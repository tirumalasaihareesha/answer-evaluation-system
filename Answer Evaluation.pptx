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5" r:id="rId1"/>
  </p:sldMasterIdLst>
  <p:sldIdLst>
    <p:sldId id="268" r:id="rId2"/>
    <p:sldId id="257" r:id="rId3"/>
    <p:sldId id="259" r:id="rId4"/>
    <p:sldId id="274" r:id="rId5"/>
    <p:sldId id="275" r:id="rId6"/>
    <p:sldId id="276" r:id="rId7"/>
    <p:sldId id="277" r:id="rId8"/>
    <p:sldId id="272" r:id="rId9"/>
    <p:sldId id="273" r:id="rId10"/>
    <p:sldId id="270" r:id="rId11"/>
    <p:sldId id="271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333300"/>
    <a:srgbClr val="CC6600"/>
    <a:srgbClr val="E10F8C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D1B3BB7-4A62-4926-883B-22E9B31F7B57}" type="datetimeFigureOut">
              <a:rPr lang="en-US" smtClean="0"/>
              <a:pPr>
                <a:defRPr/>
              </a:pPr>
              <a:t>2/5/2026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791242-6C8B-4093-992C-DC371AA7B482}" type="slidenum">
              <a:rPr lang="en-IN" smtClean="0"/>
              <a:pPr>
                <a:defRPr/>
              </a:pPr>
              <a:t>‹#›</a:t>
            </a:fld>
            <a:endParaRPr lang="en-IN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C569DAF-8FB5-4FFD-B2ED-0718A82C2AFD}" type="datetimeFigureOut">
              <a:rPr lang="en-US" smtClean="0"/>
              <a:pPr>
                <a:defRPr/>
              </a:pPr>
              <a:t>2/5/2026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E75787-2A36-4E96-BF3E-ED14B566761F}" type="slidenum">
              <a:rPr lang="en-IN" smtClean="0"/>
              <a:pPr>
                <a:defRPr/>
              </a:pPr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957ECEF-130F-42D3-88A2-66A01554B1A1}" type="datetimeFigureOut">
              <a:rPr lang="en-US" smtClean="0"/>
              <a:pPr>
                <a:defRPr/>
              </a:pPr>
              <a:t>2/5/2026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9C5C5F-F24F-4764-8546-495B06F7B2DF}" type="slidenum">
              <a:rPr lang="en-IN" smtClean="0"/>
              <a:pPr>
                <a:defRPr/>
              </a:pPr>
              <a:t>‹#›</a:t>
            </a:fld>
            <a:endParaRPr lang="en-IN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1B94E1-50AB-4014-9B12-B386C851E3F1}" type="datetimeFigureOut">
              <a:rPr lang="en-US" smtClean="0"/>
              <a:pPr>
                <a:defRPr/>
              </a:pPr>
              <a:t>2/5/2026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E284C7-4F13-415D-BBD9-629ADF05C79A}" type="slidenum">
              <a:rPr lang="en-IN" smtClean="0"/>
              <a:pPr>
                <a:defRPr/>
              </a:pPr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0C067AA-D226-4D23-A327-C5F766BC4E69}" type="datetimeFigureOut">
              <a:rPr lang="en-US" smtClean="0"/>
              <a:pPr>
                <a:defRPr/>
              </a:pPr>
              <a:t>2/5/2026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2FC42EA-03DA-4BB9-A902-E9EABE9C9339}" type="slidenum">
              <a:rPr lang="en-IN" smtClean="0"/>
              <a:pPr>
                <a:defRPr/>
              </a:pPr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C9A4FFF-FF7F-4753-855B-3360D2D633F7}" type="datetimeFigureOut">
              <a:rPr lang="en-US" smtClean="0"/>
              <a:pPr>
                <a:defRPr/>
              </a:pPr>
              <a:t>2/5/2026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8204FF-2176-4AF3-A601-94C85AEFA05E}" type="slidenum">
              <a:rPr lang="en-IN" smtClean="0"/>
              <a:pPr>
                <a:defRPr/>
              </a:pPr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CB8D2DB-F3EB-4196-B528-ABA20104ECBF}" type="datetimeFigureOut">
              <a:rPr lang="en-US" smtClean="0"/>
              <a:pPr>
                <a:defRPr/>
              </a:pPr>
              <a:t>2/5/2026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07C1632-C550-416B-A92C-31AAC2F166F6}" type="slidenum">
              <a:rPr lang="en-IN" smtClean="0"/>
              <a:pPr>
                <a:defRPr/>
              </a:pPr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CF620A-4010-41CF-BAEB-61C32B5DAA2F}" type="datetimeFigureOut">
              <a:rPr lang="en-US" smtClean="0"/>
              <a:pPr>
                <a:defRPr/>
              </a:pPr>
              <a:t>2/5/2026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256A19-CFE9-485C-8E22-113EB9C4BD58}" type="slidenum">
              <a:rPr lang="en-IN" smtClean="0"/>
              <a:pPr>
                <a:defRPr/>
              </a:pPr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2E780B8-AD3A-4E31-AA8A-232693BA749D}" type="datetimeFigureOut">
              <a:rPr lang="en-US" smtClean="0"/>
              <a:pPr>
                <a:defRPr/>
              </a:pPr>
              <a:t>2/5/2026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pPr>
              <a:defRPr/>
            </a:pPr>
            <a:fld id="{86B7749F-AA51-48FF-9857-434918CE6E96}" type="slidenum">
              <a:rPr lang="en-IN" smtClean="0"/>
              <a:pPr>
                <a:defRPr/>
              </a:pPr>
              <a:t>‹#›</a:t>
            </a:fld>
            <a:endParaRPr lang="en-IN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0286C1A-B120-4542-8306-9B304AEEB48F}" type="datetimeFigureOut">
              <a:rPr lang="en-US" smtClean="0"/>
              <a:pPr>
                <a:defRPr/>
              </a:pPr>
              <a:t>2/5/2026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ADEF81-B161-43EC-BCC3-E800703197CE}" type="slidenum">
              <a:rPr lang="en-IN" smtClean="0"/>
              <a:pPr>
                <a:defRPr/>
              </a:pPr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1B5D07-DB54-4772-BA51-872CD16C82EC}" type="datetimeFigureOut">
              <a:rPr lang="en-US" smtClean="0"/>
              <a:pPr>
                <a:defRPr/>
              </a:pPr>
              <a:t>2/5/2026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E029BB-526E-4444-8286-FCDA066BEA6D}" type="slidenum">
              <a:rPr lang="en-IN" smtClean="0"/>
              <a:pPr>
                <a:defRPr/>
              </a:pPr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fld id="{A355456A-81DC-4C7C-8B8F-DE1E3F339D6B}" type="datetimeFigureOut">
              <a:rPr lang="en-US" smtClean="0"/>
              <a:pPr>
                <a:defRPr/>
              </a:pPr>
              <a:t>2/5/2026</a:t>
            </a:fld>
            <a:endParaRPr lang="en-IN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fld id="{EB175C14-927D-4545-8DF6-1EE38B803D7F}" type="slidenum">
              <a:rPr lang="en-IN" smtClean="0"/>
              <a:pPr>
                <a:defRPr/>
              </a:pPr>
              <a:t>‹#›</a:t>
            </a:fld>
            <a:endParaRPr lang="en-IN" dirty="0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97" r:id="rId2"/>
    <p:sldLayoutId id="2147483798" r:id="rId3"/>
    <p:sldLayoutId id="2147483799" r:id="rId4"/>
    <p:sldLayoutId id="2147483800" r:id="rId5"/>
    <p:sldLayoutId id="2147483801" r:id="rId6"/>
    <p:sldLayoutId id="2147483802" r:id="rId7"/>
    <p:sldLayoutId id="2147483803" r:id="rId8"/>
    <p:sldLayoutId id="2147483804" r:id="rId9"/>
    <p:sldLayoutId id="2147483805" r:id="rId10"/>
    <p:sldLayoutId id="2147483806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548680"/>
            <a:ext cx="8229600" cy="1008112"/>
          </a:xfrm>
        </p:spPr>
        <p:txBody>
          <a:bodyPr>
            <a:normAutofit/>
          </a:bodyPr>
          <a:lstStyle/>
          <a:p>
            <a:pPr algn="ctr"/>
            <a:r>
              <a:rPr lang="en-IN" sz="2400" b="1" dirty="0" smtClean="0">
                <a:solidFill>
                  <a:srgbClr val="00B0F0"/>
                </a:solidFill>
                <a:latin typeface="Times New Roman" pitchFamily="-128" charset="0"/>
                <a:cs typeface="Times New Roman" pitchFamily="-128" charset="0"/>
              </a:rPr>
              <a:t>ANSWER EVALUATION USING MACHINE LEARNING            </a:t>
            </a:r>
            <a:endParaRPr lang="en-US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507288" cy="53285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             </a:t>
            </a:r>
            <a:endParaRPr lang="en-US" sz="1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                                          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Presented by</a:t>
            </a:r>
          </a:p>
          <a:p>
            <a:pPr marL="0" indent="0" algn="just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                       </a:t>
            </a:r>
            <a:endParaRPr lang="en-US" sz="19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IN" sz="1900" smtClean="0">
                <a:latin typeface="Times New Roman" pitchFamily="18" charset="0"/>
                <a:cs typeface="Times New Roman" pitchFamily="18" charset="0"/>
              </a:rPr>
              <a:t>                                                           T.Sai</a:t>
            </a:r>
            <a:r>
              <a:rPr lang="en-IN" sz="1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900" dirty="0" err="1" smtClean="0">
                <a:latin typeface="Times New Roman" pitchFamily="18" charset="0"/>
                <a:cs typeface="Times New Roman" pitchFamily="18" charset="0"/>
              </a:rPr>
              <a:t>Hareesha</a:t>
            </a:r>
            <a:endParaRPr lang="en-US" sz="19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sz="19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IN" sz="2200" b="1" dirty="0" smtClean="0">
                <a:latin typeface="Times New Roman" pitchFamily="18" charset="0"/>
                <a:cs typeface="Times New Roman" pitchFamily="18" charset="0"/>
              </a:rPr>
              <a:t>Under the esteemed guidance of</a:t>
            </a:r>
          </a:p>
          <a:p>
            <a:pPr marL="0" indent="0" algn="ctr">
              <a:buNone/>
            </a:pPr>
            <a:r>
              <a:rPr lang="en-IN" sz="19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IN" sz="1900" dirty="0" err="1" smtClean="0"/>
              <a:t>Mrs.S.Nahida</a:t>
            </a:r>
            <a:r>
              <a:rPr lang="en-IN" sz="1900" dirty="0" smtClean="0">
                <a:latin typeface="Times New Roman" pitchFamily="18" charset="0"/>
                <a:cs typeface="Times New Roman" pitchFamily="18" charset="0"/>
              </a:rPr>
              <a:t>                     </a:t>
            </a:r>
          </a:p>
          <a:p>
            <a:pPr marL="0" indent="0" algn="ctr">
              <a:buNone/>
            </a:pP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IN" sz="1900" dirty="0" smtClean="0">
                <a:latin typeface="Times New Roman" pitchFamily="18" charset="0"/>
                <a:cs typeface="Times New Roman" pitchFamily="18" charset="0"/>
              </a:rPr>
              <a:t>Assistant Professor, CSE Department</a:t>
            </a:r>
          </a:p>
          <a:p>
            <a:pPr marL="457200" fontAlgn="auto">
              <a:lnSpc>
                <a:spcPct val="115000"/>
              </a:lnSpc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            </a:t>
            </a:r>
            <a:r>
              <a:rPr lang="en-US" sz="1900" b="1" dirty="0" smtClean="0">
                <a:latin typeface="Times New Roman" pitchFamily="18" charset="0"/>
                <a:ea typeface="Calibri"/>
                <a:cs typeface="Times New Roman" pitchFamily="18" charset="0"/>
              </a:rPr>
              <a:t>DEPARTMENT OF COMPUTER SCIENCE AND ENGINEERING</a:t>
            </a:r>
          </a:p>
          <a:p>
            <a:pPr marL="457200" algn="ctr" fontAlgn="auto">
              <a:lnSpc>
                <a:spcPct val="115000"/>
              </a:lnSpc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1900" b="1" dirty="0" smtClean="0">
                <a:latin typeface="Times New Roman" pitchFamily="18" charset="0"/>
                <a:ea typeface="Calibri"/>
                <a:cs typeface="Times New Roman" pitchFamily="18" charset="0"/>
              </a:rPr>
              <a:t>    NRI INSTITUTE OF TECHNOLOGY</a:t>
            </a:r>
            <a:endParaRPr lang="en-IN" sz="1900" dirty="0" smtClean="0">
              <a:latin typeface="Times New Roman" pitchFamily="18" charset="0"/>
              <a:ea typeface="Calibri"/>
              <a:cs typeface="Times New Roman" pitchFamily="18" charset="0"/>
            </a:endParaRPr>
          </a:p>
          <a:p>
            <a:pPr marL="457200" algn="ctr" fontAlgn="auto">
              <a:lnSpc>
                <a:spcPct val="115000"/>
              </a:lnSpc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1400" dirty="0" smtClean="0">
                <a:latin typeface="Times New Roman" pitchFamily="18" charset="0"/>
                <a:ea typeface="Calibri"/>
                <a:cs typeface="Times New Roman" pitchFamily="18" charset="0"/>
              </a:rPr>
              <a:t>(Accredited by NBA:CSE,ECE &amp;EEE)</a:t>
            </a:r>
            <a:endParaRPr lang="en-IN" sz="1400" dirty="0" smtClean="0">
              <a:latin typeface="Times New Roman" pitchFamily="18" charset="0"/>
              <a:ea typeface="Calibri"/>
              <a:cs typeface="Times New Roman" pitchFamily="18" charset="0"/>
            </a:endParaRPr>
          </a:p>
          <a:p>
            <a:pPr marL="228600" algn="ctr" fontAlgn="auto">
              <a:lnSpc>
                <a:spcPct val="115000"/>
              </a:lnSpc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1500" dirty="0" smtClean="0">
                <a:latin typeface="Times New Roman" pitchFamily="18" charset="0"/>
                <a:ea typeface="Calibri"/>
                <a:cs typeface="Times New Roman" pitchFamily="18" charset="0"/>
              </a:rPr>
              <a:t>                  An Autonomous Institution, Permanently Affiliated to JNTUK, Kakinada</a:t>
            </a:r>
            <a:endParaRPr lang="en-IN" sz="1500" dirty="0" smtClean="0">
              <a:latin typeface="Times New Roman" pitchFamily="18" charset="0"/>
              <a:ea typeface="Calibri"/>
              <a:cs typeface="Times New Roman" pitchFamily="18" charset="0"/>
            </a:endParaRPr>
          </a:p>
          <a:p>
            <a:pPr marL="228600" algn="ctr" fontAlgn="auto">
              <a:lnSpc>
                <a:spcPct val="115000"/>
              </a:lnSpc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1500" dirty="0" smtClean="0">
                <a:latin typeface="Times New Roman" pitchFamily="18" charset="0"/>
                <a:ea typeface="Calibri"/>
                <a:cs typeface="Times New Roman" pitchFamily="18" charset="0"/>
              </a:rPr>
              <a:t>              (Accredited by NAAC with ”A” Grade and ISO 9001:2015 Certified Institution)</a:t>
            </a:r>
            <a:endParaRPr lang="en-IN" sz="1500" dirty="0" smtClean="0">
              <a:latin typeface="Times New Roman" pitchFamily="18" charset="0"/>
              <a:ea typeface="Calibri"/>
              <a:cs typeface="Times New Roman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5085184"/>
            <a:ext cx="1359408" cy="1213104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46600391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285720" y="214290"/>
            <a:ext cx="7239000" cy="1143000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IN" sz="2800" b="1" u="sng" dirty="0" smtClean="0">
                <a:solidFill>
                  <a:srgbClr val="0070C0"/>
                </a:solidFill>
                <a:latin typeface="Times New Roman" pitchFamily="-128" charset="0"/>
                <a:cs typeface="Times New Roman" pitchFamily="-128" charset="0"/>
              </a:rPr>
              <a:t>List of the Contents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>
          <a:xfrm>
            <a:off x="142875" y="1714500"/>
            <a:ext cx="8229600" cy="4768850"/>
          </a:xfrm>
        </p:spPr>
        <p:txBody>
          <a:bodyPr>
            <a:normAutofit/>
          </a:bodyPr>
          <a:lstStyle/>
          <a:p>
            <a:pPr algn="just"/>
            <a:r>
              <a:rPr lang="en-IN" sz="2800" dirty="0" smtClean="0">
                <a:latin typeface="Times New Roman" pitchFamily="-128" charset="0"/>
                <a:cs typeface="Times New Roman" pitchFamily="-128" charset="0"/>
              </a:rPr>
              <a:t>Introduction </a:t>
            </a:r>
          </a:p>
          <a:p>
            <a:pPr algn="just"/>
            <a:r>
              <a:rPr lang="en-IN" sz="2800" dirty="0" smtClean="0">
                <a:latin typeface="Times New Roman" pitchFamily="-128" charset="0"/>
                <a:cs typeface="Times New Roman" pitchFamily="-128" charset="0"/>
              </a:rPr>
              <a:t>Feasibility Study</a:t>
            </a:r>
          </a:p>
          <a:p>
            <a:pPr algn="just"/>
            <a:r>
              <a:rPr lang="en-IN" sz="2800" dirty="0" smtClean="0">
                <a:latin typeface="Times New Roman" pitchFamily="-128" charset="0"/>
                <a:cs typeface="Times New Roman" pitchFamily="-128" charset="0"/>
              </a:rPr>
              <a:t>Architectural Design </a:t>
            </a:r>
          </a:p>
          <a:p>
            <a:pPr algn="just"/>
            <a:r>
              <a:rPr lang="en-IN" sz="2800" dirty="0" smtClean="0">
                <a:latin typeface="Times New Roman" pitchFamily="-128" charset="0"/>
                <a:cs typeface="Times New Roman" pitchFamily="-128" charset="0"/>
              </a:rPr>
              <a:t>Block Diagram </a:t>
            </a:r>
          </a:p>
          <a:p>
            <a:pPr algn="just"/>
            <a:r>
              <a:rPr lang="en-IN" sz="2800" dirty="0" smtClean="0">
                <a:latin typeface="Times New Roman" pitchFamily="-128" charset="0"/>
                <a:cs typeface="Times New Roman" pitchFamily="-128" charset="0"/>
              </a:rPr>
              <a:t>Conclusion</a:t>
            </a:r>
          </a:p>
        </p:txBody>
      </p:sp>
    </p:spTree>
  </p:cSld>
  <p:clrMapOvr>
    <a:masterClrMapping/>
  </p:clrMapOvr>
  <p:transition>
    <p:cut thruBlk="1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142852"/>
            <a:ext cx="72390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b="1" u="sng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34" y="1556792"/>
            <a:ext cx="8320438" cy="5004334"/>
          </a:xfrm>
        </p:spPr>
        <p:txBody>
          <a:bodyPr/>
          <a:lstStyle/>
          <a:p>
            <a:pPr algn="just">
              <a:buFont typeface="Wingdings" pitchFamily="2" charset="2"/>
              <a:buChar char="v"/>
            </a:pPr>
            <a:r>
              <a:rPr lang="en-IN" sz="2000" dirty="0"/>
              <a:t>Nowadays during this pandemic, everyone is working in a virtual manner. In the present scenario, manual evaluation of subjective answers is a hectic task. </a:t>
            </a:r>
            <a:endParaRPr lang="en-IN" sz="2000" dirty="0" smtClean="0"/>
          </a:p>
          <a:p>
            <a:pPr marL="0" indent="0" algn="just">
              <a:buNone/>
            </a:pPr>
            <a:endParaRPr lang="en-IN" sz="2000" dirty="0" smtClean="0"/>
          </a:p>
          <a:p>
            <a:pPr algn="just">
              <a:buFont typeface="Wingdings" pitchFamily="2" charset="2"/>
              <a:buChar char="v"/>
            </a:pPr>
            <a:r>
              <a:rPr lang="en-IN" sz="2000" dirty="0"/>
              <a:t>The descriptive examination is the backbone of all the universities</a:t>
            </a:r>
            <a:r>
              <a:rPr lang="en-IN" sz="2000" dirty="0" smtClean="0"/>
              <a:t>.</a:t>
            </a:r>
          </a:p>
          <a:p>
            <a:pPr marL="0" indent="0" algn="just">
              <a:buNone/>
            </a:pPr>
            <a:endParaRPr lang="en-IN" sz="2000" dirty="0" smtClean="0"/>
          </a:p>
          <a:p>
            <a:pPr algn="just">
              <a:buFont typeface="Wingdings" pitchFamily="2" charset="2"/>
              <a:buChar char="v"/>
            </a:pPr>
            <a:r>
              <a:rPr lang="en-IN" sz="2000" dirty="0"/>
              <a:t>The project aims to automatically evaluate descriptive scanned answer sheet using ML and NLP</a:t>
            </a:r>
            <a:r>
              <a:rPr lang="en-IN" sz="2000" dirty="0" smtClean="0"/>
              <a:t>.</a:t>
            </a:r>
          </a:p>
          <a:p>
            <a:pPr marL="0" indent="0" algn="just">
              <a:buNone/>
            </a:pPr>
            <a:endParaRPr lang="en-IN" sz="2000" dirty="0" smtClean="0"/>
          </a:p>
          <a:p>
            <a:pPr algn="just">
              <a:buFont typeface="Wingdings" pitchFamily="2" charset="2"/>
              <a:buChar char="v"/>
            </a:pPr>
            <a:r>
              <a:rPr lang="en-IN" sz="2000" dirty="0" smtClean="0"/>
              <a:t> </a:t>
            </a:r>
            <a:r>
              <a:rPr lang="en-IN" sz="2000" dirty="0"/>
              <a:t>The system uses OCR to extract text and cosine similarity to measure the similarity between extracted and provided keywords by the </a:t>
            </a:r>
            <a:r>
              <a:rPr lang="en-IN" sz="2000" dirty="0" smtClean="0"/>
              <a:t>moderator.</a:t>
            </a:r>
          </a:p>
          <a:p>
            <a:pPr algn="just">
              <a:buFont typeface="Wingdings" pitchFamily="2" charset="2"/>
              <a:buChar char="v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endParaRPr lang="en-US" dirty="0"/>
          </a:p>
        </p:txBody>
      </p:sp>
    </p:spTree>
  </p:cSld>
  <p:clrMapOvr>
    <a:masterClrMapping/>
  </p:clrMapOvr>
  <p:transition>
    <p:cut thruBlk="1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 smtClean="0"/>
              <a:t>Feasibility Study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3725768"/>
          </a:xfrm>
        </p:spPr>
        <p:txBody>
          <a:bodyPr/>
          <a:lstStyle/>
          <a:p>
            <a:pPr>
              <a:buClrTx/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feasibility study is carried out to test whether the proposed system is worth being implemented.</a:t>
            </a:r>
          </a:p>
          <a:p>
            <a:pPr algn="just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feasibility carried out mainly in three sections namely.</a:t>
            </a:r>
          </a:p>
          <a:p>
            <a:pPr lvl="1" algn="just">
              <a:lnSpc>
                <a:spcPct val="150000"/>
              </a:lnSpc>
              <a:buClrTx/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Feasibility</a:t>
            </a:r>
          </a:p>
          <a:p>
            <a:pPr lvl="1" algn="just">
              <a:lnSpc>
                <a:spcPct val="150000"/>
              </a:lnSpc>
              <a:buClrTx/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Feasibility</a:t>
            </a:r>
          </a:p>
          <a:p>
            <a:pPr lvl="1" algn="just">
              <a:lnSpc>
                <a:spcPct val="150000"/>
              </a:lnSpc>
              <a:buClrTx/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Feasibility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055826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Technical</a:t>
            </a:r>
            <a:r>
              <a:rPr lang="en-IN" b="1" dirty="0"/>
              <a:t> </a:t>
            </a:r>
            <a:r>
              <a:rPr lang="en-IN" dirty="0"/>
              <a:t>Feasibility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0" y="2780928"/>
            <a:ext cx="8229600" cy="2592288"/>
          </a:xfrm>
        </p:spPr>
        <p:txBody>
          <a:bodyPr>
            <a:normAutofit/>
          </a:bodyPr>
          <a:lstStyle/>
          <a:p>
            <a:pPr algn="just">
              <a:buClrTx/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study centre around the system’s department hardware, software and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</a:p>
          <a:p>
            <a:pPr marL="0" indent="0" algn="just">
              <a:buClrTx/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what extend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support the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system.</a:t>
            </a:r>
          </a:p>
          <a:p>
            <a:pPr algn="just">
              <a:buClrTx/>
              <a:buFont typeface="Wingdings" panose="05000000000000000000" pitchFamily="2" charset="2"/>
              <a:buChar char="Ø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can give guarantee of accuracy, and easy to use.</a:t>
            </a:r>
          </a:p>
          <a:p>
            <a:pPr algn="just">
              <a:buClrTx/>
              <a:buFont typeface="Wingdings" panose="05000000000000000000" pitchFamily="2" charset="2"/>
              <a:buChar char="Ø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is decided to build using python which is readily available.</a:t>
            </a:r>
          </a:p>
          <a:p>
            <a:pPr algn="just">
              <a:buClrTx/>
              <a:buFont typeface="Wingdings" panose="05000000000000000000" pitchFamily="2" charset="2"/>
              <a:buChar char="Ø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states that project is technically feasible.</a:t>
            </a:r>
            <a:endParaRPr lang="en-IN" sz="2000" dirty="0"/>
          </a:p>
        </p:txBody>
      </p:sp>
    </p:spTree>
    <p:extLst>
      <p:ext uri="{BB962C8B-B14F-4D97-AF65-F5344CB8AC3E}">
        <p14:creationId xmlns="" xmlns:p14="http://schemas.microsoft.com/office/powerpoint/2010/main" val="3317445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Economic Feasibility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7201" y="2564904"/>
            <a:ext cx="8229600" cy="26642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IN" sz="1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Economic analysis is the most frequently used method for evaluating effectiveness of the</a:t>
            </a:r>
            <a:r>
              <a:rPr kumimoji="0" lang="en-IN" sz="1800" b="0" i="0" u="none" strike="noStrike" kern="1200" cap="none" spc="0" normalizeH="0" noProof="0" dirty="0" smtClean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IN" sz="1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proposed system. 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IN" sz="1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Most commonly known as cost benefit analysis. 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IN" sz="1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Python is an open source so there is no need to consider cost.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IN" sz="1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Hence this project is economically feasible. 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73016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Operational Feasibility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0" y="2492896"/>
            <a:ext cx="8229600" cy="3869784"/>
          </a:xfrm>
        </p:spPr>
        <p:txBody>
          <a:bodyPr/>
          <a:lstStyle/>
          <a:p>
            <a:pPr>
              <a:buClrTx/>
              <a:buFont typeface="Wingdings" panose="05000000000000000000" pitchFamily="2" charset="2"/>
              <a:buChar char="Ø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easibility is a measure how people feel about the project.</a:t>
            </a:r>
          </a:p>
          <a:p>
            <a:pPr>
              <a:buClrTx/>
              <a:buFont typeface="Wingdings" panose="05000000000000000000" pitchFamily="2" charset="2"/>
              <a:buChar char="Ø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Our proposed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can generate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marks based on keywords and length of</a:t>
            </a:r>
          </a:p>
          <a:p>
            <a:pPr marL="0" indent="0">
              <a:buClrTx/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the answer which are given to machine.</a:t>
            </a:r>
          </a:p>
          <a:p>
            <a:pPr>
              <a:buClrTx/>
              <a:buFont typeface="Wingdings" panose="05000000000000000000" pitchFamily="2" charset="2"/>
              <a:buChar char="Ø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process of evaluating the answer sheet make evaluator and student</a:t>
            </a:r>
          </a:p>
          <a:p>
            <a:pPr marL="0" indent="0">
              <a:buClrTx/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satisfied in every aspect like reduction in time, marks.</a:t>
            </a:r>
          </a:p>
          <a:p>
            <a:pPr>
              <a:buClrTx/>
              <a:buFont typeface="Wingdings" panose="05000000000000000000" pitchFamily="2" charset="2"/>
              <a:buChar char="Ø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So, the project is operational feasible.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Tx/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485984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581772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                    </a:t>
            </a:r>
            <a:r>
              <a:rPr lang="en-IN" sz="3200" u="sng" dirty="0" smtClean="0"/>
              <a:t>Architectural Design</a:t>
            </a:r>
            <a:endParaRPr lang="en-US" sz="3200" u="sng" dirty="0"/>
          </a:p>
        </p:txBody>
      </p:sp>
      <p:sp>
        <p:nvSpPr>
          <p:cNvPr id="11" name="Rectangle 10"/>
          <p:cNvSpPr/>
          <p:nvPr/>
        </p:nvSpPr>
        <p:spPr>
          <a:xfrm>
            <a:off x="1071538" y="1714488"/>
            <a:ext cx="2143140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Image acquisition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142976" y="2357430"/>
            <a:ext cx="2000264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 smtClean="0"/>
              <a:t>Preprocessing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00100" y="3000372"/>
            <a:ext cx="2214578" cy="2857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Segmentation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928662" y="3571876"/>
            <a:ext cx="2428892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Feature Extraction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142976" y="4286256"/>
            <a:ext cx="1928826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ANN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71538" y="4929198"/>
            <a:ext cx="2214578" cy="857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Extracted text from the scanned answer sheet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3286116" y="5357826"/>
            <a:ext cx="57150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rot="5400000" flipH="1" flipV="1">
            <a:off x="2249471" y="3750471"/>
            <a:ext cx="3215504" cy="7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4500562" y="1714488"/>
            <a:ext cx="2214578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Calculate length of the answer</a:t>
            </a:r>
            <a:endParaRPr lang="en-US" dirty="0"/>
          </a:p>
        </p:txBody>
      </p:sp>
      <p:sp>
        <p:nvSpPr>
          <p:cNvPr id="65" name="Rectangle 64"/>
          <p:cNvSpPr/>
          <p:nvPr/>
        </p:nvSpPr>
        <p:spPr>
          <a:xfrm>
            <a:off x="4857752" y="2428868"/>
            <a:ext cx="1500198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NLP</a:t>
            </a:r>
            <a:endParaRPr lang="en-US" dirty="0"/>
          </a:p>
        </p:txBody>
      </p:sp>
      <p:sp>
        <p:nvSpPr>
          <p:cNvPr id="66" name="Rectangle 65"/>
          <p:cNvSpPr/>
          <p:nvPr/>
        </p:nvSpPr>
        <p:spPr>
          <a:xfrm>
            <a:off x="4286248" y="3000372"/>
            <a:ext cx="2643206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Extract keywords  from the answer</a:t>
            </a:r>
            <a:endParaRPr lang="en-US" dirty="0"/>
          </a:p>
        </p:txBody>
      </p:sp>
      <p:sp>
        <p:nvSpPr>
          <p:cNvPr id="68" name="Rectangle 67"/>
          <p:cNvSpPr/>
          <p:nvPr/>
        </p:nvSpPr>
        <p:spPr>
          <a:xfrm>
            <a:off x="4357686" y="3786190"/>
            <a:ext cx="2571768" cy="5715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Calculate similarity percentage</a:t>
            </a:r>
            <a:endParaRPr lang="en-US" dirty="0"/>
          </a:p>
        </p:txBody>
      </p:sp>
      <p:sp>
        <p:nvSpPr>
          <p:cNvPr id="69" name="Diamond 68"/>
          <p:cNvSpPr/>
          <p:nvPr/>
        </p:nvSpPr>
        <p:spPr>
          <a:xfrm>
            <a:off x="4857752" y="4714884"/>
            <a:ext cx="1500198" cy="1143008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 smtClean="0"/>
              <a:t>Length of the answer==min length</a:t>
            </a:r>
            <a:endParaRPr lang="en-US" sz="1000" dirty="0"/>
          </a:p>
        </p:txBody>
      </p:sp>
      <p:cxnSp>
        <p:nvCxnSpPr>
          <p:cNvPr id="71" name="Straight Connector 70"/>
          <p:cNvCxnSpPr/>
          <p:nvPr/>
        </p:nvCxnSpPr>
        <p:spPr>
          <a:xfrm rot="5400000" flipH="1" flipV="1">
            <a:off x="3750463" y="2035959"/>
            <a:ext cx="21431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>
            <a:off x="3857620" y="1928802"/>
            <a:ext cx="64294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73"/>
          <p:cNvSpPr/>
          <p:nvPr/>
        </p:nvSpPr>
        <p:spPr>
          <a:xfrm>
            <a:off x="6786578" y="5000636"/>
            <a:ext cx="1643074" cy="5715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smtClean="0"/>
              <a:t>Display marks in range of 0 to 4</a:t>
            </a:r>
            <a:endParaRPr lang="en-US" sz="1400" dirty="0"/>
          </a:p>
        </p:txBody>
      </p:sp>
      <p:sp>
        <p:nvSpPr>
          <p:cNvPr id="75" name="Rectangle 74"/>
          <p:cNvSpPr/>
          <p:nvPr/>
        </p:nvSpPr>
        <p:spPr>
          <a:xfrm>
            <a:off x="4500562" y="6143644"/>
            <a:ext cx="2286016" cy="5715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Display marks range of 6-10</a:t>
            </a:r>
            <a:endParaRPr lang="en-US" dirty="0"/>
          </a:p>
        </p:txBody>
      </p:sp>
      <p:cxnSp>
        <p:nvCxnSpPr>
          <p:cNvPr id="80" name="Straight Arrow Connector 79"/>
          <p:cNvCxnSpPr/>
          <p:nvPr/>
        </p:nvCxnSpPr>
        <p:spPr>
          <a:xfrm rot="5400000">
            <a:off x="1928794" y="2214554"/>
            <a:ext cx="28575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 rot="5400000">
            <a:off x="1928794" y="2857496"/>
            <a:ext cx="28575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/>
          <p:nvPr/>
        </p:nvCxnSpPr>
        <p:spPr>
          <a:xfrm rot="5400000">
            <a:off x="1928794" y="3429000"/>
            <a:ext cx="28575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/>
          <p:cNvCxnSpPr/>
          <p:nvPr/>
        </p:nvCxnSpPr>
        <p:spPr>
          <a:xfrm rot="5400000">
            <a:off x="1928794" y="4143380"/>
            <a:ext cx="28575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/>
          <p:cNvCxnSpPr/>
          <p:nvPr/>
        </p:nvCxnSpPr>
        <p:spPr>
          <a:xfrm rot="5400000">
            <a:off x="1928794" y="4786322"/>
            <a:ext cx="28575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/>
          <p:cNvCxnSpPr>
            <a:stCxn id="64" idx="2"/>
            <a:endCxn id="65" idx="0"/>
          </p:cNvCxnSpPr>
          <p:nvPr/>
        </p:nvCxnSpPr>
        <p:spPr>
          <a:xfrm rot="5400000">
            <a:off x="5500694" y="2321711"/>
            <a:ext cx="21431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>
            <a:stCxn id="65" idx="2"/>
            <a:endCxn id="66" idx="0"/>
          </p:cNvCxnSpPr>
          <p:nvPr/>
        </p:nvCxnSpPr>
        <p:spPr>
          <a:xfrm rot="5400000">
            <a:off x="5500694" y="2893215"/>
            <a:ext cx="21431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/>
          <p:cNvCxnSpPr>
            <a:stCxn id="66" idx="2"/>
          </p:cNvCxnSpPr>
          <p:nvPr/>
        </p:nvCxnSpPr>
        <p:spPr>
          <a:xfrm rot="16200000" flipH="1">
            <a:off x="5482834" y="3625454"/>
            <a:ext cx="285754" cy="3572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/>
          <p:cNvCxnSpPr>
            <a:endCxn id="69" idx="0"/>
          </p:cNvCxnSpPr>
          <p:nvPr/>
        </p:nvCxnSpPr>
        <p:spPr>
          <a:xfrm rot="16200000" flipH="1">
            <a:off x="5411396" y="4518429"/>
            <a:ext cx="357190" cy="3571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/>
          <p:cNvCxnSpPr>
            <a:endCxn id="75" idx="0"/>
          </p:cNvCxnSpPr>
          <p:nvPr/>
        </p:nvCxnSpPr>
        <p:spPr>
          <a:xfrm rot="5400000">
            <a:off x="5500694" y="6000768"/>
            <a:ext cx="28575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/>
          <p:cNvCxnSpPr>
            <a:endCxn id="74" idx="1"/>
          </p:cNvCxnSpPr>
          <p:nvPr/>
        </p:nvCxnSpPr>
        <p:spPr>
          <a:xfrm>
            <a:off x="6357950" y="5286388"/>
            <a:ext cx="428628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084168" y="4714884"/>
            <a:ext cx="845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False</a:t>
            </a: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5925011" y="5710214"/>
            <a:ext cx="989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True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796086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                </a:t>
            </a:r>
            <a:r>
              <a:rPr lang="en-IN" u="sng" dirty="0" smtClean="0"/>
              <a:t>Block Diagram                   </a:t>
            </a:r>
            <a:endParaRPr lang="en-US" u="sng" dirty="0"/>
          </a:p>
        </p:txBody>
      </p:sp>
      <p:sp>
        <p:nvSpPr>
          <p:cNvPr id="4" name="Rectangle 3"/>
          <p:cNvSpPr/>
          <p:nvPr/>
        </p:nvSpPr>
        <p:spPr>
          <a:xfrm>
            <a:off x="2786050" y="1857364"/>
            <a:ext cx="2571768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Student  writes answer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857488" y="2571744"/>
            <a:ext cx="2428892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Extraction of answer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071802" y="3357562"/>
            <a:ext cx="1928826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Pre processing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786050" y="4000504"/>
            <a:ext cx="2500330" cy="6429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Training of model answers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2428860" y="5000636"/>
            <a:ext cx="3214710" cy="785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Evaluation of keywords, key sentences, </a:t>
            </a:r>
            <a:r>
              <a:rPr lang="en-IN" dirty="0" err="1" smtClean="0"/>
              <a:t>Grammer</a:t>
            </a:r>
            <a:r>
              <a:rPr lang="en-IN" dirty="0" smtClean="0"/>
              <a:t> and question specific things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5786446" y="3286124"/>
            <a:ext cx="1857388" cy="5715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Model Answers</a:t>
            </a:r>
            <a:endParaRPr lang="en-US" dirty="0"/>
          </a:p>
        </p:txBody>
      </p:sp>
      <p:cxnSp>
        <p:nvCxnSpPr>
          <p:cNvPr id="25" name="Straight Arrow Connector 24"/>
          <p:cNvCxnSpPr>
            <a:stCxn id="6" idx="2"/>
            <a:endCxn id="7" idx="0"/>
          </p:cNvCxnSpPr>
          <p:nvPr/>
        </p:nvCxnSpPr>
        <p:spPr>
          <a:xfrm rot="5400000">
            <a:off x="3929058" y="3893347"/>
            <a:ext cx="21431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rot="5400000">
            <a:off x="3821901" y="4822041"/>
            <a:ext cx="35719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endCxn id="5" idx="0"/>
          </p:cNvCxnSpPr>
          <p:nvPr/>
        </p:nvCxnSpPr>
        <p:spPr>
          <a:xfrm rot="5400000">
            <a:off x="3929058" y="2428868"/>
            <a:ext cx="28575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9" idx="1"/>
            <a:endCxn id="6" idx="3"/>
          </p:cNvCxnSpPr>
          <p:nvPr/>
        </p:nvCxnSpPr>
        <p:spPr>
          <a:xfrm rot="10800000">
            <a:off x="5000628" y="3571876"/>
            <a:ext cx="785818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5" idx="2"/>
          </p:cNvCxnSpPr>
          <p:nvPr/>
        </p:nvCxnSpPr>
        <p:spPr>
          <a:xfrm rot="5400000">
            <a:off x="3929058" y="3214686"/>
            <a:ext cx="28575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rot="5400000">
            <a:off x="3821901" y="5963461"/>
            <a:ext cx="35719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071802" y="6134551"/>
            <a:ext cx="1928826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Display Marks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852704"/>
          </a:xfrm>
        </p:spPr>
        <p:txBody>
          <a:bodyPr/>
          <a:lstStyle/>
          <a:p>
            <a:r>
              <a:rPr lang="en-US" dirty="0" smtClean="0"/>
              <a:t>                    </a:t>
            </a:r>
            <a:r>
              <a:rPr lang="en-US" sz="3200" b="1" u="sng" dirty="0" smtClean="0">
                <a:latin typeface="Times New Roman" pitchFamily="18" charset="0"/>
                <a:cs typeface="Times New Roman" pitchFamily="18" charset="0"/>
              </a:rPr>
              <a:t>Conclusion</a:t>
            </a:r>
            <a:endParaRPr lang="en-US" sz="3200" b="1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itchFamily="2" charset="2"/>
              <a:buChar char="v"/>
            </a:pP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Evaluation of paper virtually is crucial nowadays because it takes less time and evaluation is very perfect which benefit the student as well as moderator.</a:t>
            </a:r>
          </a:p>
          <a:p>
            <a:pPr marL="0" indent="0" algn="just">
              <a:buNone/>
            </a:pP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v"/>
            </a:pP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Apply the machine learning algorithm to the trained data set from that output will be predicted.</a:t>
            </a:r>
          </a:p>
          <a:p>
            <a:pPr marL="0" indent="0" algn="just">
              <a:buNone/>
            </a:pP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v"/>
            </a:pP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Based on keywords and length of the answer the evaluating the descriptive answer sheet  will be done and finally the total marks of the student will be displayed.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v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r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r">
              <a:buNone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07867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                  </a:t>
            </a:r>
            <a:r>
              <a:rPr lang="en-US" sz="7200" i="1" dirty="0" smtClean="0">
                <a:latin typeface="Cambria Math" pitchFamily="18" charset="0"/>
                <a:ea typeface="Cambria Math" pitchFamily="18" charset="0"/>
              </a:rPr>
              <a:t>Thank You!</a:t>
            </a:r>
            <a:endParaRPr lang="en-US" sz="7200" i="1" dirty="0">
              <a:latin typeface="Cambria Math" pitchFamily="18" charset="0"/>
              <a:ea typeface="Cambria Math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9367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1617</TotalTime>
  <Words>530</Words>
  <Application>Microsoft Office PowerPoint</Application>
  <PresentationFormat>On-screen Show (4:3)</PresentationFormat>
  <Paragraphs>87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Flow</vt:lpstr>
      <vt:lpstr>ANSWER EVALUATION USING MACHINE LEARNING            </vt:lpstr>
      <vt:lpstr>List of the Contents</vt:lpstr>
      <vt:lpstr>Introduction</vt:lpstr>
      <vt:lpstr>Feasibility Study</vt:lpstr>
      <vt:lpstr>Technical Feasibility</vt:lpstr>
      <vt:lpstr>Economic Feasibility</vt:lpstr>
      <vt:lpstr>Operational Feasibility</vt:lpstr>
      <vt:lpstr>                    Architectural Design</vt:lpstr>
      <vt:lpstr>                Block Diagram                   </vt:lpstr>
      <vt:lpstr>                    Conclusion</vt:lpstr>
      <vt:lpstr>Slide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PROJECT Presented by  Name of the student  (Roll number) Under the esteemed guidance of Guide name Designation , CSE Department</dc:title>
  <dc:creator>hp</dc:creator>
  <cp:lastModifiedBy>haree</cp:lastModifiedBy>
  <cp:revision>158</cp:revision>
  <dcterms:created xsi:type="dcterms:W3CDTF">2020-01-27T07:39:54Z</dcterms:created>
  <dcterms:modified xsi:type="dcterms:W3CDTF">2026-02-06T02:25:21Z</dcterms:modified>
</cp:coreProperties>
</file>