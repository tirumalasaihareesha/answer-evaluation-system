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notesMasterIdLst>
    <p:notesMasterId r:id="rId12"/>
  </p:notesMasterIdLst>
  <p:sldIdLst>
    <p:sldId id="268" r:id="rId2"/>
    <p:sldId id="257" r:id="rId3"/>
    <p:sldId id="278" r:id="rId4"/>
    <p:sldId id="259" r:id="rId5"/>
    <p:sldId id="279" r:id="rId6"/>
    <p:sldId id="280" r:id="rId7"/>
    <p:sldId id="281" r:id="rId8"/>
    <p:sldId id="282" r:id="rId9"/>
    <p:sldId id="270" r:id="rId10"/>
    <p:sldId id="271"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33300"/>
    <a:srgbClr val="CC6600"/>
    <a:srgbClr val="E10F8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6" d="100"/>
          <a:sy n="66" d="100"/>
        </p:scale>
        <p:origin x="-127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E635FC5-6755-4C22-8318-ACC6F19C0223}" type="datetimeFigureOut">
              <a:rPr lang="en-US" smtClean="0"/>
              <a:pPr/>
              <a:t>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A6A828-EE2C-47F4-9D87-CB6820C1342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pPr>
              <a:defRPr/>
            </a:pPr>
            <a:fld id="{9D1B3BB7-4A62-4926-883B-22E9B31F7B57}" type="datetimeFigureOut">
              <a:rPr lang="en-US" smtClean="0"/>
              <a:pPr>
                <a:defRPr/>
              </a:pPr>
              <a:t>2/5/2026</a:t>
            </a:fld>
            <a:endParaRPr lang="en-US" dirty="0"/>
          </a:p>
        </p:txBody>
      </p:sp>
      <p:sp>
        <p:nvSpPr>
          <p:cNvPr id="19" name="Footer Placeholder 18"/>
          <p:cNvSpPr>
            <a:spLocks noGrp="1"/>
          </p:cNvSpPr>
          <p:nvPr>
            <p:ph type="ftr" sz="quarter" idx="11"/>
          </p:nvPr>
        </p:nvSpPr>
        <p:spPr/>
        <p:txBody>
          <a:bodyPr/>
          <a:lstStyle/>
          <a:p>
            <a:pPr>
              <a:defRPr/>
            </a:pPr>
            <a:endParaRPr lang="en-IN"/>
          </a:p>
        </p:txBody>
      </p:sp>
      <p:sp>
        <p:nvSpPr>
          <p:cNvPr id="27" name="Slide Number Placeholder 26"/>
          <p:cNvSpPr>
            <a:spLocks noGrp="1"/>
          </p:cNvSpPr>
          <p:nvPr>
            <p:ph type="sldNum" sz="quarter" idx="12"/>
          </p:nvPr>
        </p:nvSpPr>
        <p:spPr/>
        <p:txBody>
          <a:bodyPr/>
          <a:lstStyle/>
          <a:p>
            <a:pPr>
              <a:defRPr/>
            </a:pPr>
            <a:fld id="{8F791242-6C8B-4093-992C-DC371AA7B482}" type="slidenum">
              <a:rPr lang="en-IN" smtClean="0"/>
              <a:pPr>
                <a:defRPr/>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1C569DAF-8FB5-4FFD-B2ED-0718A82C2AFD}"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1AE75787-2A36-4E96-BF3E-ED14B566761F}" type="slidenum">
              <a:rPr lang="en-IN" smtClean="0"/>
              <a:pPr>
                <a:defRPr/>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fld id="{E957ECEF-130F-42D3-88A2-66A01554B1A1}"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7F9C5C5F-F24F-4764-8546-495B06F7B2DF}" type="slidenum">
              <a:rPr lang="en-IN" smtClean="0"/>
              <a:pPr>
                <a:defRPr/>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011B94E1-50AB-4014-9B12-B386C851E3F1}" type="datetimeFigureOut">
              <a:rPr lang="en-US" smtClean="0"/>
              <a:pPr>
                <a:defRPr/>
              </a:pPr>
              <a:t>2/5/2026</a:t>
            </a:fld>
            <a:endParaRPr lang="en-IN" dirty="0"/>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pPr>
              <a:defRPr/>
            </a:pPr>
            <a:fld id="{D6E284C7-4F13-415D-BBD9-629ADF05C79A}" type="slidenum">
              <a:rPr lang="en-IN" smtClean="0"/>
              <a:pPr>
                <a:defRPr/>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fld id="{E0C067AA-D226-4D23-A327-C5F766BC4E69}" type="datetimeFigureOut">
              <a:rPr lang="en-US" smtClean="0"/>
              <a:pPr>
                <a:defRPr/>
              </a:pPr>
              <a:t>2/5/2026</a:t>
            </a:fld>
            <a:endParaRPr lang="en-IN" dirty="0"/>
          </a:p>
        </p:txBody>
      </p:sp>
      <p:sp>
        <p:nvSpPr>
          <p:cNvPr id="8" name="Footer Placeholder 7"/>
          <p:cNvSpPr>
            <a:spLocks noGrp="1"/>
          </p:cNvSpPr>
          <p:nvPr>
            <p:ph type="ftr" sz="quarter" idx="11"/>
          </p:nvPr>
        </p:nvSpPr>
        <p:spPr/>
        <p:txBody>
          <a:bodyPr/>
          <a:lstStyle/>
          <a:p>
            <a:pPr>
              <a:defRPr/>
            </a:pPr>
            <a:endParaRPr lang="en-IN"/>
          </a:p>
        </p:txBody>
      </p:sp>
      <p:sp>
        <p:nvSpPr>
          <p:cNvPr id="9" name="Slide Number Placeholder 8"/>
          <p:cNvSpPr>
            <a:spLocks noGrp="1"/>
          </p:cNvSpPr>
          <p:nvPr>
            <p:ph type="sldNum" sz="quarter" idx="12"/>
          </p:nvPr>
        </p:nvSpPr>
        <p:spPr/>
        <p:txBody>
          <a:bodyPr/>
          <a:lstStyle/>
          <a:p>
            <a:pPr>
              <a:defRPr/>
            </a:pPr>
            <a:fld id="{92FC42EA-03DA-4BB9-A902-E9EABE9C9339}" type="slidenum">
              <a:rPr lang="en-IN" smtClean="0"/>
              <a:pPr>
                <a:defRPr/>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8C9A4FFF-FF7F-4753-855B-3360D2D633F7}" type="datetimeFigureOut">
              <a:rPr lang="en-US" smtClean="0"/>
              <a:pPr>
                <a:defRPr/>
              </a:pPr>
              <a:t>2/5/2026</a:t>
            </a:fld>
            <a:endParaRPr lang="en-IN" dirty="0"/>
          </a:p>
        </p:txBody>
      </p:sp>
      <p:sp>
        <p:nvSpPr>
          <p:cNvPr id="4" name="Footer Placeholder 3"/>
          <p:cNvSpPr>
            <a:spLocks noGrp="1"/>
          </p:cNvSpPr>
          <p:nvPr>
            <p:ph type="ftr" sz="quarter" idx="11"/>
          </p:nvPr>
        </p:nvSpPr>
        <p:spPr/>
        <p:txBody>
          <a:bodyPr/>
          <a:lstStyle/>
          <a:p>
            <a:pPr>
              <a:defRPr/>
            </a:pPr>
            <a:endParaRPr lang="en-IN"/>
          </a:p>
        </p:txBody>
      </p:sp>
      <p:sp>
        <p:nvSpPr>
          <p:cNvPr id="5" name="Slide Number Placeholder 4"/>
          <p:cNvSpPr>
            <a:spLocks noGrp="1"/>
          </p:cNvSpPr>
          <p:nvPr>
            <p:ph type="sldNum" sz="quarter" idx="12"/>
          </p:nvPr>
        </p:nvSpPr>
        <p:spPr/>
        <p:txBody>
          <a:bodyPr/>
          <a:lstStyle/>
          <a:p>
            <a:pPr>
              <a:defRPr/>
            </a:pPr>
            <a:fld id="{7B8204FF-2176-4AF3-A601-94C85AEFA05E}" type="slidenum">
              <a:rPr lang="en-IN" smtClean="0"/>
              <a:pPr>
                <a:defRPr/>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9CB8D2DB-F3EB-4196-B528-ABA20104ECBF}" type="datetimeFigureOut">
              <a:rPr lang="en-US" smtClean="0"/>
              <a:pPr>
                <a:defRPr/>
              </a:pPr>
              <a:t>2/5/2026</a:t>
            </a:fld>
            <a:endParaRPr lang="en-IN" dirty="0"/>
          </a:p>
        </p:txBody>
      </p:sp>
      <p:sp>
        <p:nvSpPr>
          <p:cNvPr id="3" name="Footer Placeholder 2"/>
          <p:cNvSpPr>
            <a:spLocks noGrp="1"/>
          </p:cNvSpPr>
          <p:nvPr>
            <p:ph type="ftr" sz="quarter" idx="11"/>
          </p:nvPr>
        </p:nvSpPr>
        <p:spPr/>
        <p:txBody>
          <a:bodyPr/>
          <a:lstStyle/>
          <a:p>
            <a:pPr>
              <a:defRPr/>
            </a:pPr>
            <a:endParaRPr lang="en-IN"/>
          </a:p>
        </p:txBody>
      </p:sp>
      <p:sp>
        <p:nvSpPr>
          <p:cNvPr id="4" name="Slide Number Placeholder 3"/>
          <p:cNvSpPr>
            <a:spLocks noGrp="1"/>
          </p:cNvSpPr>
          <p:nvPr>
            <p:ph type="sldNum" sz="quarter" idx="12"/>
          </p:nvPr>
        </p:nvSpPr>
        <p:spPr/>
        <p:txBody>
          <a:bodyPr/>
          <a:lstStyle/>
          <a:p>
            <a:pPr>
              <a:defRPr/>
            </a:pPr>
            <a:fld id="{807C1632-C550-416B-A92C-31AAC2F166F6}" type="slidenum">
              <a:rPr lang="en-IN" smtClean="0"/>
              <a:pPr>
                <a:defRPr/>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01CF620A-4010-41CF-BAEB-61C32B5DAA2F}" type="datetimeFigureOut">
              <a:rPr lang="en-US" smtClean="0"/>
              <a:pPr>
                <a:defRPr/>
              </a:pPr>
              <a:t>2/5/2026</a:t>
            </a:fld>
            <a:endParaRPr lang="en-IN" dirty="0"/>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p:txBody>
          <a:bodyPr/>
          <a:lstStyle/>
          <a:p>
            <a:pPr>
              <a:defRPr/>
            </a:pPr>
            <a:fld id="{10256A19-CFE9-485C-8E22-113EB9C4BD58}" type="slidenum">
              <a:rPr lang="en-IN" smtClean="0"/>
              <a:pPr>
                <a:defRPr/>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fld id="{C2E780B8-AD3A-4E31-AA8A-232693BA749D}" type="datetimeFigureOut">
              <a:rPr lang="en-US" smtClean="0"/>
              <a:pPr>
                <a:defRPr/>
              </a:pPr>
              <a:t>2/5/2026</a:t>
            </a:fld>
            <a:endParaRPr lang="en-IN" dirty="0"/>
          </a:p>
        </p:txBody>
      </p:sp>
      <p:sp>
        <p:nvSpPr>
          <p:cNvPr id="6" name="Footer Placeholder 5"/>
          <p:cNvSpPr>
            <a:spLocks noGrp="1"/>
          </p:cNvSpPr>
          <p:nvPr>
            <p:ph type="ftr" sz="quarter" idx="11"/>
          </p:nvPr>
        </p:nvSpPr>
        <p:spPr/>
        <p:txBody>
          <a:bodyPr/>
          <a:lstStyle/>
          <a:p>
            <a:pPr>
              <a:defRPr/>
            </a:pPr>
            <a:endParaRPr lang="en-IN"/>
          </a:p>
        </p:txBody>
      </p:sp>
      <p:sp>
        <p:nvSpPr>
          <p:cNvPr id="7" name="Slide Number Placeholder 6"/>
          <p:cNvSpPr>
            <a:spLocks noGrp="1"/>
          </p:cNvSpPr>
          <p:nvPr>
            <p:ph type="sldNum" sz="quarter" idx="12"/>
          </p:nvPr>
        </p:nvSpPr>
        <p:spPr>
          <a:xfrm>
            <a:off x="8077200" y="6356350"/>
            <a:ext cx="609600" cy="365125"/>
          </a:xfrm>
        </p:spPr>
        <p:txBody>
          <a:bodyPr/>
          <a:lstStyle/>
          <a:p>
            <a:pPr>
              <a:defRPr/>
            </a:pPr>
            <a:fld id="{86B7749F-AA51-48FF-9857-434918CE6E96}" type="slidenum">
              <a:rPr lang="en-IN" smtClean="0"/>
              <a:pPr>
                <a:defRPr/>
              </a:pPr>
              <a:t>‹#›</a:t>
            </a:fld>
            <a:endParaRPr lang="en-IN"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F0286C1A-B120-4542-8306-9B304AEEB48F}"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26ADEF81-B161-43EC-BCC3-E800703197CE}" type="slidenum">
              <a:rPr lang="en-IN" smtClean="0"/>
              <a:pPr>
                <a:defRPr/>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1D1B5D07-DB54-4772-BA51-872CD16C82EC}" type="datetimeFigureOut">
              <a:rPr lang="en-US" smtClean="0"/>
              <a:pPr>
                <a:defRPr/>
              </a:pPr>
              <a:t>2/5/2026</a:t>
            </a:fld>
            <a:endParaRPr lang="en-IN" dirty="0"/>
          </a:p>
        </p:txBody>
      </p:sp>
      <p:sp>
        <p:nvSpPr>
          <p:cNvPr id="5" name="Footer Placeholder 4"/>
          <p:cNvSpPr>
            <a:spLocks noGrp="1"/>
          </p:cNvSpPr>
          <p:nvPr>
            <p:ph type="ftr" sz="quarter" idx="11"/>
          </p:nvPr>
        </p:nvSpPr>
        <p:spPr/>
        <p:txBody>
          <a:bodyPr/>
          <a:lstStyle/>
          <a:p>
            <a:pPr>
              <a:defRPr/>
            </a:pPr>
            <a:endParaRPr lang="en-IN"/>
          </a:p>
        </p:txBody>
      </p:sp>
      <p:sp>
        <p:nvSpPr>
          <p:cNvPr id="6" name="Slide Number Placeholder 5"/>
          <p:cNvSpPr>
            <a:spLocks noGrp="1"/>
          </p:cNvSpPr>
          <p:nvPr>
            <p:ph type="sldNum" sz="quarter" idx="12"/>
          </p:nvPr>
        </p:nvSpPr>
        <p:spPr/>
        <p:txBody>
          <a:bodyPr/>
          <a:lstStyle/>
          <a:p>
            <a:pPr>
              <a:defRPr/>
            </a:pPr>
            <a:fld id="{4BE029BB-526E-4444-8286-FCDA066BEA6D}" type="slidenum">
              <a:rPr lang="en-IN" smtClean="0"/>
              <a:pPr>
                <a:defRPr/>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fld id="{A355456A-81DC-4C7C-8B8F-DE1E3F339D6B}" type="datetimeFigureOut">
              <a:rPr lang="en-US" smtClean="0"/>
              <a:pPr>
                <a:defRPr/>
              </a:pPr>
              <a:t>2/5/2026</a:t>
            </a:fld>
            <a:endParaRPr lang="en-IN"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EB175C14-927D-4545-8DF6-1EE38B803D7F}" type="slidenum">
              <a:rPr lang="en-IN" smtClean="0"/>
              <a:pPr>
                <a:defRPr/>
              </a:pPr>
              <a:t>‹#›</a:t>
            </a:fld>
            <a:endParaRPr lang="en-IN"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1008112"/>
          </a:xfrm>
        </p:spPr>
        <p:txBody>
          <a:bodyPr>
            <a:normAutofit/>
          </a:bodyPr>
          <a:lstStyle/>
          <a:p>
            <a:pPr algn="ctr"/>
            <a:r>
              <a:rPr lang="en-IN" sz="2400" b="1" dirty="0" smtClean="0">
                <a:solidFill>
                  <a:schemeClr val="tx2">
                    <a:lumMod val="75000"/>
                  </a:schemeClr>
                </a:solidFill>
                <a:latin typeface="Times New Roman" pitchFamily="-128" charset="0"/>
                <a:cs typeface="Times New Roman" pitchFamily="-128" charset="0"/>
              </a:rPr>
              <a:t>ANSWER EVALUATION USING MACHINE LEARNING            </a:t>
            </a:r>
            <a:endParaRPr lang="en-US" sz="2400" b="1" dirty="0">
              <a:solidFill>
                <a:schemeClr val="tx2">
                  <a:lumMod val="75000"/>
                </a:schemeClr>
              </a:solidFill>
            </a:endParaRPr>
          </a:p>
        </p:txBody>
      </p:sp>
      <p:sp>
        <p:nvSpPr>
          <p:cNvPr id="3" name="Content Placeholder 2"/>
          <p:cNvSpPr>
            <a:spLocks noGrp="1"/>
          </p:cNvSpPr>
          <p:nvPr>
            <p:ph idx="1"/>
          </p:nvPr>
        </p:nvSpPr>
        <p:spPr>
          <a:xfrm>
            <a:off x="457200" y="1142984"/>
            <a:ext cx="8507288" cy="5526376"/>
          </a:xfrm>
        </p:spPr>
        <p:txBody>
          <a:bodyPr>
            <a:normAutofit lnSpcReduction="10000"/>
          </a:bodyPr>
          <a:lstStyle/>
          <a:p>
            <a:pPr marL="0" indent="0">
              <a:buNone/>
            </a:pPr>
            <a:r>
              <a:rPr lang="en-US" dirty="0"/>
              <a:t> </a:t>
            </a:r>
            <a:r>
              <a:rPr lang="en-US" dirty="0" smtClean="0"/>
              <a:t>                                 </a:t>
            </a:r>
            <a:endParaRPr lang="en-US" sz="1000" dirty="0" smtClean="0">
              <a:latin typeface="Times New Roman" pitchFamily="18" charset="0"/>
              <a:cs typeface="Times New Roman" pitchFamily="18" charset="0"/>
            </a:endParaRPr>
          </a:p>
          <a:p>
            <a:pPr marL="0" indent="0">
              <a:buNone/>
            </a:pPr>
            <a:r>
              <a:rPr lang="en-US"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Presented </a:t>
            </a:r>
            <a:r>
              <a:rPr lang="en-US" sz="2000" b="1" dirty="0" smtClean="0">
                <a:latin typeface="Times New Roman" pitchFamily="18" charset="0"/>
                <a:cs typeface="Times New Roman" pitchFamily="18" charset="0"/>
              </a:rPr>
              <a:t>by</a:t>
            </a:r>
          </a:p>
          <a:p>
            <a:pPr marL="0" indent="0" algn="just">
              <a:buNone/>
            </a:pPr>
            <a:r>
              <a:rPr lang="en-US" dirty="0" smtClean="0">
                <a:latin typeface="Times New Roman" pitchFamily="18" charset="0"/>
                <a:cs typeface="Times New Roman" pitchFamily="18" charset="0"/>
              </a:rPr>
              <a:t>                               </a:t>
            </a:r>
            <a:endParaRPr lang="en-US" sz="1900" dirty="0">
              <a:latin typeface="Times New Roman" pitchFamily="18" charset="0"/>
              <a:cs typeface="Times New Roman" pitchFamily="18" charset="0"/>
            </a:endParaRPr>
          </a:p>
          <a:p>
            <a:pPr marL="0" indent="0" algn="just">
              <a:buNone/>
            </a:pPr>
            <a:r>
              <a:rPr lang="en-IN" sz="1900" dirty="0" smtClean="0">
                <a:latin typeface="Times New Roman" pitchFamily="18" charset="0"/>
                <a:cs typeface="Times New Roman" pitchFamily="18" charset="0"/>
              </a:rPr>
              <a:t>                       </a:t>
            </a:r>
            <a:r>
              <a:rPr lang="en-IN" sz="1900" dirty="0" smtClean="0">
                <a:latin typeface="Times New Roman" pitchFamily="18" charset="0"/>
                <a:cs typeface="Times New Roman" pitchFamily="18" charset="0"/>
              </a:rPr>
              <a:t>                        </a:t>
            </a:r>
            <a:r>
              <a:rPr lang="en-IN" sz="1900" dirty="0" err="1" smtClean="0">
                <a:latin typeface="Times New Roman" pitchFamily="18" charset="0"/>
                <a:cs typeface="Times New Roman" pitchFamily="18" charset="0"/>
              </a:rPr>
              <a:t>Sai</a:t>
            </a:r>
            <a:r>
              <a:rPr lang="en-IN" sz="1900" dirty="0" smtClean="0">
                <a:latin typeface="Times New Roman" pitchFamily="18" charset="0"/>
                <a:cs typeface="Times New Roman" pitchFamily="18" charset="0"/>
              </a:rPr>
              <a:t> </a:t>
            </a:r>
            <a:r>
              <a:rPr lang="en-IN" sz="1900" dirty="0" err="1" smtClean="0">
                <a:latin typeface="Times New Roman" pitchFamily="18" charset="0"/>
                <a:cs typeface="Times New Roman" pitchFamily="18" charset="0"/>
              </a:rPr>
              <a:t>Hareesha</a:t>
            </a:r>
            <a:r>
              <a:rPr lang="en-IN" sz="1900" dirty="0" smtClean="0">
                <a:latin typeface="Times New Roman" pitchFamily="18" charset="0"/>
                <a:cs typeface="Times New Roman" pitchFamily="18" charset="0"/>
              </a:rPr>
              <a:t> </a:t>
            </a:r>
            <a:r>
              <a:rPr lang="en-IN" sz="1900" dirty="0" err="1" smtClean="0">
                <a:latin typeface="Times New Roman" pitchFamily="18" charset="0"/>
                <a:cs typeface="Times New Roman" pitchFamily="18" charset="0"/>
              </a:rPr>
              <a:t>Tirumala</a:t>
            </a:r>
            <a:endParaRPr lang="en-US" sz="1900" dirty="0">
              <a:latin typeface="Times New Roman" pitchFamily="18" charset="0"/>
              <a:cs typeface="Times New Roman" pitchFamily="18" charset="0"/>
            </a:endParaRPr>
          </a:p>
          <a:p>
            <a:pPr marL="0" indent="0" algn="just">
              <a:buNone/>
            </a:pPr>
            <a:r>
              <a:rPr lang="en-IN" sz="1900" dirty="0" smtClean="0">
                <a:latin typeface="Times New Roman" pitchFamily="18" charset="0"/>
                <a:cs typeface="Times New Roman" pitchFamily="18" charset="0"/>
              </a:rPr>
              <a:t>                                          </a:t>
            </a:r>
            <a:endParaRPr lang="en-US" sz="1900" dirty="0">
              <a:latin typeface="Times New Roman" pitchFamily="18" charset="0"/>
              <a:cs typeface="Times New Roman" pitchFamily="18" charset="0"/>
            </a:endParaRPr>
          </a:p>
          <a:p>
            <a:pPr marL="0" indent="0" algn="just">
              <a:buNone/>
            </a:pPr>
            <a:r>
              <a:rPr lang="en-IN" sz="1900" dirty="0" smtClean="0">
                <a:latin typeface="Times New Roman" pitchFamily="18" charset="0"/>
                <a:cs typeface="Times New Roman" pitchFamily="18" charset="0"/>
              </a:rPr>
              <a:t>                                         </a:t>
            </a:r>
          </a:p>
          <a:p>
            <a:pPr marL="0" indent="0" algn="just">
              <a:buNone/>
            </a:pPr>
            <a:endParaRPr lang="en-US" sz="1900" dirty="0" smtClean="0">
              <a:latin typeface="Times New Roman" pitchFamily="18" charset="0"/>
              <a:cs typeface="Times New Roman" pitchFamily="18" charset="0"/>
            </a:endParaRPr>
          </a:p>
          <a:p>
            <a:pPr marL="0" indent="0" algn="ctr">
              <a:buNone/>
            </a:pPr>
            <a:r>
              <a:rPr lang="en-IN" sz="2200" b="1" dirty="0" smtClean="0">
                <a:latin typeface="Times New Roman" pitchFamily="18" charset="0"/>
                <a:cs typeface="Times New Roman" pitchFamily="18" charset="0"/>
              </a:rPr>
              <a:t>Under the esteemed guidance of</a:t>
            </a:r>
          </a:p>
          <a:p>
            <a:pPr marL="0" indent="0" algn="ctr">
              <a:buNone/>
            </a:pPr>
            <a:r>
              <a:rPr lang="en-IN" sz="1900" dirty="0" smtClean="0">
                <a:latin typeface="Times New Roman" pitchFamily="18" charset="0"/>
                <a:cs typeface="Times New Roman" pitchFamily="18" charset="0"/>
              </a:rPr>
              <a:t>  </a:t>
            </a:r>
            <a:r>
              <a:rPr lang="en-IN" sz="1900" dirty="0" err="1" smtClean="0"/>
              <a:t>Mrs.S.Nahida</a:t>
            </a:r>
            <a:r>
              <a:rPr lang="en-IN" sz="1900" dirty="0" smtClean="0">
                <a:latin typeface="Times New Roman" pitchFamily="18" charset="0"/>
                <a:cs typeface="Times New Roman" pitchFamily="18" charset="0"/>
              </a:rPr>
              <a:t>                     </a:t>
            </a:r>
          </a:p>
          <a:p>
            <a:pPr marL="0" indent="0" algn="ctr">
              <a:buNone/>
            </a:pPr>
            <a:r>
              <a:rPr lang="en-IN" sz="2400" dirty="0" smtClean="0">
                <a:latin typeface="Times New Roman" pitchFamily="18" charset="0"/>
                <a:cs typeface="Times New Roman" pitchFamily="18" charset="0"/>
              </a:rPr>
              <a:t>     </a:t>
            </a:r>
            <a:r>
              <a:rPr lang="en-IN" sz="1900" dirty="0" smtClean="0">
                <a:latin typeface="Times New Roman" pitchFamily="18" charset="0"/>
                <a:cs typeface="Times New Roman" pitchFamily="18" charset="0"/>
              </a:rPr>
              <a:t>Associate Professor, CSE Department</a:t>
            </a:r>
          </a:p>
          <a:p>
            <a:pPr marL="457200" fontAlgn="auto">
              <a:lnSpc>
                <a:spcPct val="115000"/>
              </a:lnSpc>
              <a:spcAft>
                <a:spcPts val="0"/>
              </a:spcAft>
              <a:buFont typeface="Arial" pitchFamily="34" charset="0"/>
              <a:buNone/>
              <a:defRPr/>
            </a:pPr>
            <a:r>
              <a:rPr lang="en-IN" sz="2400" dirty="0" smtClean="0">
                <a:latin typeface="Times New Roman" pitchFamily="18" charset="0"/>
                <a:cs typeface="Times New Roman" pitchFamily="18" charset="0"/>
              </a:rPr>
              <a:t>            </a:t>
            </a:r>
            <a:r>
              <a:rPr lang="en-US" sz="1900" b="1" dirty="0" smtClean="0">
                <a:latin typeface="Times New Roman" pitchFamily="18" charset="0"/>
                <a:ea typeface="Calibri"/>
                <a:cs typeface="Times New Roman" pitchFamily="18" charset="0"/>
              </a:rPr>
              <a:t>DEPARTMENT OF COMPUTER SCIENCE AND ENGINEERING</a:t>
            </a:r>
          </a:p>
          <a:p>
            <a:pPr marL="457200" algn="ctr" fontAlgn="auto">
              <a:lnSpc>
                <a:spcPct val="115000"/>
              </a:lnSpc>
              <a:spcAft>
                <a:spcPts val="0"/>
              </a:spcAft>
              <a:buFont typeface="Arial" pitchFamily="34" charset="0"/>
              <a:buNone/>
              <a:defRPr/>
            </a:pPr>
            <a:r>
              <a:rPr lang="en-US" sz="1900" b="1" dirty="0" smtClean="0">
                <a:latin typeface="Times New Roman" pitchFamily="18" charset="0"/>
                <a:ea typeface="Calibri"/>
                <a:cs typeface="Times New Roman" pitchFamily="18" charset="0"/>
              </a:rPr>
              <a:t>    NRI INSTITUTE OF TECHNOLOGY</a:t>
            </a:r>
            <a:endParaRPr lang="en-IN" sz="1900" dirty="0" smtClean="0">
              <a:latin typeface="Times New Roman" pitchFamily="18" charset="0"/>
              <a:ea typeface="Calibri"/>
              <a:cs typeface="Times New Roman" pitchFamily="18" charset="0"/>
            </a:endParaRPr>
          </a:p>
          <a:p>
            <a:pPr marL="457200" algn="ctr" fontAlgn="auto">
              <a:lnSpc>
                <a:spcPct val="115000"/>
              </a:lnSpc>
              <a:spcAft>
                <a:spcPts val="0"/>
              </a:spcAft>
              <a:buFont typeface="Arial" pitchFamily="34" charset="0"/>
              <a:buNone/>
              <a:defRPr/>
            </a:pPr>
            <a:r>
              <a:rPr lang="en-US" sz="1400" dirty="0" smtClean="0">
                <a:latin typeface="Times New Roman" pitchFamily="18" charset="0"/>
                <a:ea typeface="Calibri"/>
                <a:cs typeface="Times New Roman" pitchFamily="18" charset="0"/>
              </a:rPr>
              <a:t>(Accredited by NBA:CSE,ECE &amp;EEE)</a:t>
            </a:r>
            <a:endParaRPr lang="en-IN" sz="1400" dirty="0" smtClean="0">
              <a:latin typeface="Times New Roman" pitchFamily="18" charset="0"/>
              <a:ea typeface="Calibri"/>
              <a:cs typeface="Times New Roman" pitchFamily="18" charset="0"/>
            </a:endParaRPr>
          </a:p>
          <a:p>
            <a:pPr marL="228600" algn="ctr" fontAlgn="auto">
              <a:lnSpc>
                <a:spcPct val="115000"/>
              </a:lnSpc>
              <a:spcAft>
                <a:spcPts val="0"/>
              </a:spcAft>
              <a:buFont typeface="Arial" pitchFamily="34" charset="0"/>
              <a:buNone/>
              <a:defRPr/>
            </a:pPr>
            <a:r>
              <a:rPr lang="en-US" sz="1500" dirty="0" smtClean="0">
                <a:latin typeface="Times New Roman" pitchFamily="18" charset="0"/>
                <a:ea typeface="Calibri"/>
                <a:cs typeface="Times New Roman" pitchFamily="18" charset="0"/>
              </a:rPr>
              <a:t>                  An Autonomous Institution, Permanently Affiliated to JNTUK, Kakinada</a:t>
            </a:r>
            <a:endParaRPr lang="en-IN" sz="1500" dirty="0" smtClean="0">
              <a:latin typeface="Times New Roman" pitchFamily="18" charset="0"/>
              <a:ea typeface="Calibri"/>
              <a:cs typeface="Times New Roman" pitchFamily="18" charset="0"/>
            </a:endParaRPr>
          </a:p>
          <a:p>
            <a:pPr marL="228600" algn="ctr" fontAlgn="auto">
              <a:lnSpc>
                <a:spcPct val="115000"/>
              </a:lnSpc>
              <a:spcAft>
                <a:spcPts val="0"/>
              </a:spcAft>
              <a:buFont typeface="Arial" pitchFamily="34" charset="0"/>
              <a:buNone/>
              <a:defRPr/>
            </a:pPr>
            <a:r>
              <a:rPr lang="en-US" sz="1500" dirty="0" smtClean="0">
                <a:latin typeface="Times New Roman" pitchFamily="18" charset="0"/>
                <a:ea typeface="Calibri"/>
                <a:cs typeface="Times New Roman" pitchFamily="18" charset="0"/>
              </a:rPr>
              <a:t>              (Accredited by NAAC with ”A” Grade and ISO 9001:2015 Certified Institution)</a:t>
            </a:r>
            <a:endParaRPr lang="en-IN" sz="1500" dirty="0" smtClean="0">
              <a:latin typeface="Times New Roman" pitchFamily="18" charset="0"/>
              <a:ea typeface="Calibri"/>
              <a:cs typeface="Times New Roman" pitchFamily="18" charset="0"/>
            </a:endParaRPr>
          </a:p>
          <a:p>
            <a:pPr marL="0" indent="0">
              <a:buNone/>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79512" y="5085184"/>
            <a:ext cx="1359408" cy="1213104"/>
          </a:xfrm>
          <a:prstGeom prst="rect">
            <a:avLst/>
          </a:prstGeom>
        </p:spPr>
      </p:pic>
    </p:spTree>
    <p:extLst>
      <p:ext uri="{BB962C8B-B14F-4D97-AF65-F5344CB8AC3E}">
        <p14:creationId xmlns:p14="http://schemas.microsoft.com/office/powerpoint/2010/main" xmlns="" val="446600391"/>
      </p:ext>
    </p:extLst>
  </p:cSld>
  <p:clrMapOvr>
    <a:masterClrMapping/>
  </p:clrMapOvr>
  <mc:AlternateContent xmlns:mc="http://schemas.openxmlformats.org/markup-compatibility/2006">
    <mc:Choice xmlns:p14="http://schemas.microsoft.com/office/powerpoint/2010/main" xmlns=""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285720" y="214290"/>
            <a:ext cx="7239000" cy="1143000"/>
          </a:xfrm>
        </p:spPr>
        <p:txBody>
          <a:bodyPr>
            <a:normAutofit/>
          </a:bodyPr>
          <a:lstStyle/>
          <a:p>
            <a:pPr algn="ctr" fontAlgn="auto">
              <a:spcAft>
                <a:spcPts val="0"/>
              </a:spcAft>
              <a:defRPr/>
            </a:pPr>
            <a:r>
              <a:rPr lang="en-IN" sz="2800" b="1" u="sng" dirty="0" smtClean="0">
                <a:solidFill>
                  <a:srgbClr val="0070C0"/>
                </a:solidFill>
                <a:latin typeface="Times New Roman" pitchFamily="-128" charset="0"/>
                <a:cs typeface="Times New Roman" pitchFamily="-128" charset="0"/>
              </a:rPr>
              <a:t>List of the Contents</a:t>
            </a:r>
          </a:p>
        </p:txBody>
      </p:sp>
      <p:sp>
        <p:nvSpPr>
          <p:cNvPr id="7171" name="Content Placeholder 2"/>
          <p:cNvSpPr>
            <a:spLocks noGrp="1"/>
          </p:cNvSpPr>
          <p:nvPr>
            <p:ph idx="1"/>
          </p:nvPr>
        </p:nvSpPr>
        <p:spPr>
          <a:xfrm>
            <a:off x="142875" y="1714500"/>
            <a:ext cx="8229600" cy="4768850"/>
          </a:xfrm>
        </p:spPr>
        <p:txBody>
          <a:bodyPr>
            <a:normAutofit/>
          </a:bodyPr>
          <a:lstStyle/>
          <a:p>
            <a:pPr algn="just"/>
            <a:r>
              <a:rPr lang="en-IN" sz="2800" dirty="0" smtClean="0">
                <a:latin typeface="Times New Roman" pitchFamily="-128" charset="0"/>
                <a:cs typeface="Times New Roman" pitchFamily="-128" charset="0"/>
              </a:rPr>
              <a:t>Abstract</a:t>
            </a:r>
          </a:p>
          <a:p>
            <a:pPr algn="just"/>
            <a:r>
              <a:rPr lang="en-IN" sz="2800" dirty="0" smtClean="0">
                <a:latin typeface="Times New Roman" pitchFamily="-128" charset="0"/>
                <a:cs typeface="Times New Roman" pitchFamily="-128" charset="0"/>
              </a:rPr>
              <a:t>Introduction </a:t>
            </a:r>
          </a:p>
          <a:p>
            <a:r>
              <a:rPr lang="en-IN" altLang="x-none" sz="2800" dirty="0" smtClean="0">
                <a:latin typeface="Times New Roman" panose="02020603050405020304" pitchFamily="18" charset="0"/>
                <a:sym typeface="+mn-ea"/>
              </a:rPr>
              <a:t>Methodology</a:t>
            </a:r>
            <a:endParaRPr lang="en-IN" sz="2800" dirty="0" smtClean="0">
              <a:latin typeface="Times New Roman" pitchFamily="-128" charset="0"/>
              <a:cs typeface="Times New Roman" pitchFamily="-128" charset="0"/>
            </a:endParaRPr>
          </a:p>
          <a:p>
            <a:pPr algn="just"/>
            <a:r>
              <a:rPr lang="en-IN" sz="2800" dirty="0" smtClean="0">
                <a:latin typeface="Times New Roman" pitchFamily="-128" charset="0"/>
                <a:cs typeface="Times New Roman" pitchFamily="-128" charset="0"/>
              </a:rPr>
              <a:t>Conclusion </a:t>
            </a:r>
          </a:p>
        </p:txBody>
      </p:sp>
    </p:spTree>
  </p:cSld>
  <p:clrMapOvr>
    <a:masterClrMapping/>
  </p:clrMapOvr>
  <p:transition>
    <p:cut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                    </a:t>
            </a:r>
            <a:r>
              <a:rPr lang="en-IN" u="sng" dirty="0" smtClean="0"/>
              <a:t>Abstract</a:t>
            </a:r>
            <a:endParaRPr lang="en-US" u="sng" dirty="0"/>
          </a:p>
        </p:txBody>
      </p:sp>
      <p:sp>
        <p:nvSpPr>
          <p:cNvPr id="3" name="Content Placeholder 2"/>
          <p:cNvSpPr>
            <a:spLocks noGrp="1"/>
          </p:cNvSpPr>
          <p:nvPr>
            <p:ph idx="1"/>
          </p:nvPr>
        </p:nvSpPr>
        <p:spPr/>
        <p:txBody>
          <a:bodyPr/>
          <a:lstStyle/>
          <a:p>
            <a:pPr algn="just">
              <a:buNone/>
            </a:pPr>
            <a:r>
              <a:rPr lang="en-IN" dirty="0" smtClean="0"/>
              <a:t>         </a:t>
            </a:r>
          </a:p>
          <a:p>
            <a:pPr algn="just">
              <a:buNone/>
            </a:pPr>
            <a:r>
              <a:rPr lang="en-IN" dirty="0" smtClean="0"/>
              <a:t>            </a:t>
            </a:r>
            <a:r>
              <a:rPr lang="en-IN" sz="2400" dirty="0" smtClean="0"/>
              <a:t>The main idea is to make it real and easy for the evaluators and the system will evaluate the answer based upon the matched keywords and the minimum length of the answer provided by the student. This is going to be designed with the machine learning process by the use of back propagation algorithm and natural language processor to understand the language of the provided input answer sheet.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7239000" cy="1143000"/>
          </a:xfrm>
        </p:spPr>
        <p:txBody>
          <a:bodyPr>
            <a:normAutofit/>
          </a:bodyPr>
          <a:lstStyle/>
          <a:p>
            <a:pPr algn="ctr"/>
            <a:r>
              <a:rPr lang="en-US" sz="3200" b="1" u="sng" dirty="0" smtClean="0">
                <a:solidFill>
                  <a:srgbClr val="0070C0"/>
                </a:solidFill>
                <a:latin typeface="Times New Roman" pitchFamily="18" charset="0"/>
                <a:cs typeface="Times New Roman" pitchFamily="18" charset="0"/>
              </a:rPr>
              <a:t>Introduction</a:t>
            </a:r>
            <a:endParaRPr lang="en-US" sz="3200" b="1" dirty="0"/>
          </a:p>
        </p:txBody>
      </p:sp>
      <p:sp>
        <p:nvSpPr>
          <p:cNvPr id="3" name="Content Placeholder 2"/>
          <p:cNvSpPr>
            <a:spLocks noGrp="1"/>
          </p:cNvSpPr>
          <p:nvPr>
            <p:ph idx="1"/>
          </p:nvPr>
        </p:nvSpPr>
        <p:spPr>
          <a:xfrm>
            <a:off x="500034" y="1556792"/>
            <a:ext cx="8320438" cy="5004334"/>
          </a:xfrm>
        </p:spPr>
        <p:txBody>
          <a:bodyPr/>
          <a:lstStyle/>
          <a:p>
            <a:pPr algn="just">
              <a:buFont typeface="Wingdings" pitchFamily="2" charset="2"/>
              <a:buChar char="v"/>
            </a:pPr>
            <a:r>
              <a:rPr lang="en-IN" sz="2000" dirty="0"/>
              <a:t>Nowadays during this pandemic, everyone is working in a virtual manner. In the present scenario, manual evaluation of subjective answers is a hectic task. </a:t>
            </a:r>
            <a:endParaRPr lang="en-IN" sz="2000" dirty="0" smtClean="0"/>
          </a:p>
          <a:p>
            <a:pPr marL="0" indent="0" algn="just">
              <a:buNone/>
            </a:pPr>
            <a:endParaRPr lang="en-IN" sz="2000" dirty="0" smtClean="0"/>
          </a:p>
          <a:p>
            <a:pPr algn="just">
              <a:buFont typeface="Wingdings" pitchFamily="2" charset="2"/>
              <a:buChar char="v"/>
            </a:pPr>
            <a:r>
              <a:rPr lang="en-IN" sz="2000" dirty="0"/>
              <a:t>The descriptive examination is the backbone of all the universities</a:t>
            </a:r>
            <a:r>
              <a:rPr lang="en-IN" sz="2000" dirty="0" smtClean="0"/>
              <a:t>.</a:t>
            </a:r>
          </a:p>
          <a:p>
            <a:pPr marL="0" indent="0" algn="just">
              <a:buNone/>
            </a:pPr>
            <a:endParaRPr lang="en-IN" sz="2000" dirty="0" smtClean="0"/>
          </a:p>
          <a:p>
            <a:pPr algn="just">
              <a:buFont typeface="Wingdings" pitchFamily="2" charset="2"/>
              <a:buChar char="v"/>
            </a:pPr>
            <a:r>
              <a:rPr lang="en-IN" sz="2000" dirty="0"/>
              <a:t>The project aims to automatically evaluate descriptive scanned answer sheet using ML and NLP</a:t>
            </a:r>
            <a:r>
              <a:rPr lang="en-IN" sz="2000" dirty="0" smtClean="0"/>
              <a:t>.</a:t>
            </a:r>
          </a:p>
          <a:p>
            <a:pPr marL="0" indent="0" algn="just">
              <a:buNone/>
            </a:pPr>
            <a:endParaRPr lang="en-IN" sz="2000" dirty="0" smtClean="0"/>
          </a:p>
          <a:p>
            <a:pPr algn="just">
              <a:buFont typeface="Wingdings" pitchFamily="2" charset="2"/>
              <a:buChar char="v"/>
            </a:pPr>
            <a:r>
              <a:rPr lang="en-IN" sz="2000" dirty="0" smtClean="0"/>
              <a:t> </a:t>
            </a:r>
            <a:r>
              <a:rPr lang="en-IN" sz="2000" dirty="0"/>
              <a:t>The system uses OCR to extract text and cosine similarity to measure the similarity between extracted and provided keywords by the </a:t>
            </a:r>
            <a:r>
              <a:rPr lang="en-IN" sz="2000" dirty="0" smtClean="0"/>
              <a:t>moderator.</a:t>
            </a:r>
          </a:p>
          <a:p>
            <a:pPr algn="just">
              <a:buFont typeface="Wingdings" pitchFamily="2" charset="2"/>
              <a:buChar char="v"/>
            </a:pPr>
            <a:endParaRPr lang="en-US" sz="2000" dirty="0" smtClean="0">
              <a:latin typeface="Times New Roman" pitchFamily="18" charset="0"/>
              <a:cs typeface="Times New Roman" pitchFamily="18" charset="0"/>
            </a:endParaRPr>
          </a:p>
          <a:p>
            <a:pPr algn="just">
              <a:buNone/>
            </a:pPr>
            <a:endParaRPr lang="en-US" dirty="0"/>
          </a:p>
        </p:txBody>
      </p:sp>
    </p:spTree>
  </p:cSld>
  <p:clrMapOvr>
    <a:masterClrMapping/>
  </p:clrMapOvr>
  <p:transition>
    <p:cut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24648"/>
          </a:xfrm>
        </p:spPr>
        <p:txBody>
          <a:bodyPr>
            <a:normAutofit/>
          </a:bodyPr>
          <a:lstStyle/>
          <a:p>
            <a:r>
              <a:rPr lang="en-IN" sz="4000" b="1" dirty="0" smtClean="0"/>
              <a:t>METHODOLOGY</a:t>
            </a:r>
            <a:endParaRPr lang="en-US" sz="4000" b="1" dirty="0"/>
          </a:p>
        </p:txBody>
      </p:sp>
      <p:sp>
        <p:nvSpPr>
          <p:cNvPr id="3" name="Content Placeholder 2"/>
          <p:cNvSpPr>
            <a:spLocks noGrp="1"/>
          </p:cNvSpPr>
          <p:nvPr>
            <p:ph idx="1"/>
          </p:nvPr>
        </p:nvSpPr>
        <p:spPr>
          <a:xfrm>
            <a:off x="357158" y="1643050"/>
            <a:ext cx="8229600" cy="4746310"/>
          </a:xfrm>
        </p:spPr>
        <p:txBody>
          <a:bodyPr>
            <a:normAutofit fontScale="32500" lnSpcReduction="20000"/>
          </a:bodyPr>
          <a:lstStyle/>
          <a:p>
            <a:pPr>
              <a:buNone/>
            </a:pPr>
            <a:r>
              <a:rPr lang="en-IN" sz="7200" b="1" dirty="0" smtClean="0">
                <a:latin typeface="Times New Roman" pitchFamily="18" charset="0"/>
                <a:cs typeface="Times New Roman" pitchFamily="18" charset="0"/>
              </a:rPr>
              <a:t>INPUT:</a:t>
            </a:r>
            <a:endParaRPr lang="en-US"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The dataset contains the images in the form of ‘.jpg’ or ‘.</a:t>
            </a:r>
            <a:r>
              <a:rPr lang="en-US" sz="7200" dirty="0" err="1" smtClean="0">
                <a:latin typeface="Times New Roman" pitchFamily="18" charset="0"/>
                <a:cs typeface="Times New Roman" pitchFamily="18" charset="0"/>
              </a:rPr>
              <a:t>png</a:t>
            </a:r>
            <a:r>
              <a:rPr lang="en-US" sz="7200" dirty="0" smtClean="0">
                <a:latin typeface="Times New Roman" pitchFamily="18" charset="0"/>
                <a:cs typeface="Times New Roman" pitchFamily="18" charset="0"/>
              </a:rPr>
              <a:t>’</a:t>
            </a:r>
          </a:p>
          <a:p>
            <a:pPr lvl="0"/>
            <a:r>
              <a:rPr lang="en-US" sz="7200" dirty="0" smtClean="0">
                <a:latin typeface="Times New Roman" pitchFamily="18" charset="0"/>
                <a:cs typeface="Times New Roman" pitchFamily="18" charset="0"/>
              </a:rPr>
              <a:t>In this step, we have to read or load the input image by using the </a:t>
            </a:r>
            <a:r>
              <a:rPr lang="en-US" sz="7200" dirty="0" err="1" smtClean="0">
                <a:latin typeface="Times New Roman" pitchFamily="18" charset="0"/>
                <a:cs typeface="Times New Roman" pitchFamily="18" charset="0"/>
              </a:rPr>
              <a:t>imread</a:t>
            </a:r>
            <a:r>
              <a:rPr lang="en-US" sz="7200" dirty="0" smtClean="0">
                <a:latin typeface="Times New Roman" pitchFamily="18" charset="0"/>
                <a:cs typeface="Times New Roman" pitchFamily="18" charset="0"/>
              </a:rPr>
              <a:t> () function.</a:t>
            </a:r>
          </a:p>
          <a:p>
            <a:pPr lvl="0"/>
            <a:r>
              <a:rPr lang="en-US" sz="7200" dirty="0" smtClean="0">
                <a:latin typeface="Times New Roman" pitchFamily="18" charset="0"/>
                <a:cs typeface="Times New Roman" pitchFamily="18" charset="0"/>
              </a:rPr>
              <a:t>The input image is used to detect or recognize the text.</a:t>
            </a:r>
          </a:p>
          <a:p>
            <a:pPr>
              <a:buNone/>
            </a:pPr>
            <a:r>
              <a:rPr lang="en-IN" sz="7200" b="1" dirty="0" smtClean="0">
                <a:latin typeface="Times New Roman" pitchFamily="18" charset="0"/>
                <a:cs typeface="Times New Roman" pitchFamily="18" charset="0"/>
              </a:rPr>
              <a:t>PREPROCESSING:</a:t>
            </a:r>
            <a:endParaRPr lang="en-US"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In our process, we have to resize the image and convert the image into gray scale.</a:t>
            </a:r>
          </a:p>
          <a:p>
            <a:pPr lvl="0"/>
            <a:r>
              <a:rPr lang="en-US" sz="7200" dirty="0" smtClean="0">
                <a:latin typeface="Times New Roman" pitchFamily="18" charset="0"/>
                <a:cs typeface="Times New Roman" pitchFamily="18" charset="0"/>
              </a:rPr>
              <a:t>To resize an image, you call the resize () method on it, passing in a two-integer </a:t>
            </a:r>
            <a:r>
              <a:rPr lang="en-US" sz="7200" dirty="0" err="1" smtClean="0">
                <a:latin typeface="Times New Roman" pitchFamily="18" charset="0"/>
                <a:cs typeface="Times New Roman" pitchFamily="18" charset="0"/>
              </a:rPr>
              <a:t>tuple</a:t>
            </a:r>
            <a:r>
              <a:rPr lang="en-US" sz="7200" dirty="0" smtClean="0">
                <a:latin typeface="Times New Roman" pitchFamily="18" charset="0"/>
                <a:cs typeface="Times New Roman" pitchFamily="18" charset="0"/>
              </a:rPr>
              <a:t> argument representing the width and height of the resized image. </a:t>
            </a:r>
          </a:p>
          <a:p>
            <a:pPr lvl="0"/>
            <a:r>
              <a:rPr lang="en-US" sz="7200" dirty="0" smtClean="0">
                <a:latin typeface="Times New Roman" pitchFamily="18" charset="0"/>
                <a:cs typeface="Times New Roman" pitchFamily="18" charset="0"/>
              </a:rPr>
              <a:t>The function doesn't modify the used image; it instead returns another Image with the new dimensions</a:t>
            </a:r>
            <a:r>
              <a:rPr lang="en-US" sz="7200" dirty="0" smtClean="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538806"/>
          </a:xfrm>
        </p:spPr>
        <p:txBody>
          <a:bodyPr>
            <a:normAutofit fontScale="92500" lnSpcReduction="10000"/>
          </a:bodyPr>
          <a:lstStyle/>
          <a:p>
            <a:pPr>
              <a:buNone/>
            </a:pPr>
            <a:r>
              <a:rPr lang="en-IN" b="1" dirty="0" smtClean="0">
                <a:latin typeface="Times New Roman" pitchFamily="18" charset="0"/>
                <a:cs typeface="Times New Roman" pitchFamily="18" charset="0"/>
              </a:rPr>
              <a:t>FEATURE EXTRACTION:</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Variance and Standard Deviation are essentially a measure of the spread of the data in the data set. Variance is the average of the squared differences from the mean.</a:t>
            </a:r>
          </a:p>
          <a:p>
            <a:pPr lvl="0"/>
            <a:r>
              <a:rPr lang="en-US" dirty="0" smtClean="0">
                <a:latin typeface="Times New Roman" pitchFamily="18" charset="0"/>
                <a:cs typeface="Times New Roman" pitchFamily="18" charset="0"/>
              </a:rPr>
              <a:t>mean () function can be used to calculate mean/average of a given list of numbers. It returns mean of the data set passed as parameters. Arithmetic mean is the sum of data divided by the number of data-points. </a:t>
            </a:r>
          </a:p>
          <a:p>
            <a:pPr>
              <a:buNone/>
            </a:pPr>
            <a:r>
              <a:rPr lang="en-IN" b="1" dirty="0" smtClean="0">
                <a:latin typeface="Times New Roman" pitchFamily="18" charset="0"/>
                <a:cs typeface="Times New Roman" pitchFamily="18" charset="0"/>
              </a:rPr>
              <a:t>TEXT RECOGNITION:</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In our process, we have to recognize the text by using the </a:t>
            </a:r>
            <a:r>
              <a:rPr lang="en-US" dirty="0" err="1" smtClean="0">
                <a:latin typeface="Times New Roman" pitchFamily="18" charset="0"/>
                <a:cs typeface="Times New Roman" pitchFamily="18" charset="0"/>
              </a:rPr>
              <a:t>pytesseract</a:t>
            </a:r>
            <a:r>
              <a:rPr lang="en-US" dirty="0" smtClean="0">
                <a:latin typeface="Times New Roman" pitchFamily="18" charset="0"/>
                <a:cs typeface="Times New Roman" pitchFamily="18" charset="0"/>
              </a:rPr>
              <a:t>.</a:t>
            </a:r>
          </a:p>
          <a:p>
            <a:pPr lvl="0"/>
            <a:r>
              <a:rPr lang="en-US" dirty="0" smtClean="0">
                <a:latin typeface="Times New Roman" pitchFamily="18" charset="0"/>
                <a:cs typeface="Times New Roman" pitchFamily="18" charset="0"/>
              </a:rPr>
              <a:t>Python-</a:t>
            </a:r>
            <a:r>
              <a:rPr lang="en-US" dirty="0" err="1" smtClean="0">
                <a:latin typeface="Times New Roman" pitchFamily="18" charset="0"/>
                <a:cs typeface="Times New Roman" pitchFamily="18" charset="0"/>
              </a:rPr>
              <a:t>tesseract</a:t>
            </a:r>
            <a:r>
              <a:rPr lang="en-US" dirty="0" smtClean="0">
                <a:latin typeface="Times New Roman" pitchFamily="18" charset="0"/>
                <a:cs typeface="Times New Roman" pitchFamily="18" charset="0"/>
              </a:rPr>
              <a:t> is an optical character recognition (OCR) tool for python. That is, it will recognize and “read” the text embedded in images.</a:t>
            </a:r>
          </a:p>
          <a:p>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857232"/>
            <a:ext cx="8229600" cy="5500726"/>
          </a:xfrm>
        </p:spPr>
        <p:txBody>
          <a:bodyPr>
            <a:normAutofit fontScale="85000" lnSpcReduction="20000"/>
          </a:bodyPr>
          <a:lstStyle/>
          <a:p>
            <a:pPr>
              <a:buNone/>
            </a:pPr>
            <a:r>
              <a:rPr lang="en-IN" b="1" dirty="0" smtClean="0">
                <a:latin typeface="Times New Roman" pitchFamily="18" charset="0"/>
                <a:cs typeface="Times New Roman" pitchFamily="18" charset="0"/>
              </a:rPr>
              <a:t>NLP TECHNIQUES:</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NLP is a field in machine learning with the </a:t>
            </a:r>
            <a:r>
              <a:rPr lang="en-IN" dirty="0" smtClean="0">
                <a:latin typeface="Times New Roman" pitchFamily="18" charset="0"/>
                <a:cs typeface="Times New Roman" pitchFamily="18" charset="0"/>
              </a:rPr>
              <a:t>ability of a computer to understand, analyse, manipulate, and potentially generate human language.</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Cleaning (or pre-processing) the data typically consists of a number of steps:</a:t>
            </a:r>
          </a:p>
          <a:p>
            <a:pPr lvl="0"/>
            <a:r>
              <a:rPr lang="en-US" i="1" dirty="0" smtClean="0">
                <a:latin typeface="Times New Roman" pitchFamily="18" charset="0"/>
                <a:cs typeface="Times New Roman" pitchFamily="18" charset="0"/>
              </a:rPr>
              <a:t>Remove punctuation</a:t>
            </a:r>
            <a:r>
              <a:rPr lang="en-US" dirty="0" smtClean="0">
                <a:latin typeface="Times New Roman" pitchFamily="18" charset="0"/>
                <a:cs typeface="Times New Roman" pitchFamily="18" charset="0"/>
              </a:rPr>
              <a:t>: Punctuation can provide grammatical context to a sentence which supports our understanding.</a:t>
            </a:r>
          </a:p>
          <a:p>
            <a:pPr lvl="0"/>
            <a:r>
              <a:rPr lang="en-US" i="1" dirty="0" smtClean="0">
                <a:latin typeface="Times New Roman" pitchFamily="18" charset="0"/>
                <a:cs typeface="Times New Roman" pitchFamily="18" charset="0"/>
              </a:rPr>
              <a:t>Tokenization</a:t>
            </a:r>
            <a:r>
              <a:rPr lang="en-US" dirty="0" smtClean="0">
                <a:latin typeface="Times New Roman" pitchFamily="18" charset="0"/>
                <a:cs typeface="Times New Roman" pitchFamily="18" charset="0"/>
              </a:rPr>
              <a:t>: Tokenizing separates text into units such as sentences or words. It gives structure to previously unstructured text. </a:t>
            </a:r>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Plata o </a:t>
            </a:r>
            <a:r>
              <a:rPr lang="en-US" dirty="0" err="1" smtClean="0">
                <a:latin typeface="Times New Roman" pitchFamily="18" charset="0"/>
                <a:cs typeface="Times New Roman" pitchFamily="18" charset="0"/>
              </a:rPr>
              <a:t>Plomo</a:t>
            </a:r>
            <a:r>
              <a:rPr lang="en-US" dirty="0" smtClean="0">
                <a:latin typeface="Times New Roman" pitchFamily="18" charset="0"/>
                <a:cs typeface="Times New Roman" pitchFamily="18" charset="0"/>
              </a:rPr>
              <a:t>-&gt; ‘</a:t>
            </a:r>
            <a:r>
              <a:rPr lang="en-US" dirty="0" err="1" smtClean="0">
                <a:latin typeface="Times New Roman" pitchFamily="18" charset="0"/>
                <a:cs typeface="Times New Roman" pitchFamily="18" charset="0"/>
              </a:rPr>
              <a:t>Plata’,’o’,’Plomo</a:t>
            </a:r>
            <a:r>
              <a:rPr lang="en-US" dirty="0" smtClean="0">
                <a:latin typeface="Times New Roman" pitchFamily="18" charset="0"/>
                <a:cs typeface="Times New Roman" pitchFamily="18" charset="0"/>
              </a:rPr>
              <a:t>’.</a:t>
            </a:r>
          </a:p>
          <a:p>
            <a:pPr lvl="0"/>
            <a:endParaRPr lang="en-US"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DATA SPLITTING:</a:t>
            </a:r>
            <a:endParaRPr lang="en-US"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During the machine learning process, data are needed so that learning can take place. </a:t>
            </a:r>
            <a:endParaRPr lang="en-US" dirty="0" smtClean="0">
              <a:latin typeface="Times New Roman" pitchFamily="18" charset="0"/>
              <a:cs typeface="Times New Roman" pitchFamily="18" charset="0"/>
            </a:endParaRPr>
          </a:p>
          <a:p>
            <a:pPr lvl="0"/>
            <a:r>
              <a:rPr lang="en-IN" dirty="0" smtClean="0">
                <a:latin typeface="Times New Roman" pitchFamily="18" charset="0"/>
                <a:cs typeface="Times New Roman" pitchFamily="18" charset="0"/>
              </a:rPr>
              <a:t>In addition to the data required for training, test data are needed to evaluate the performance of the algorithm in order to see how well it works</a:t>
            </a:r>
            <a:r>
              <a:rPr lang="en-IN" dirty="0" smtClean="0"/>
              <a:t>. </a:t>
            </a: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714356"/>
            <a:ext cx="8229600" cy="5532128"/>
          </a:xfrm>
        </p:spPr>
        <p:txBody>
          <a:bodyPr>
            <a:normAutofit fontScale="85000" lnSpcReduction="20000"/>
          </a:bodyPr>
          <a:lstStyle/>
          <a:p>
            <a:pPr>
              <a:buNone/>
            </a:pPr>
            <a:r>
              <a:rPr lang="en-IN" b="1" dirty="0" smtClean="0">
                <a:latin typeface="Times New Roman" pitchFamily="18" charset="0"/>
                <a:cs typeface="Times New Roman" pitchFamily="18" charset="0"/>
              </a:rPr>
              <a:t>CLASSIFICATION:</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In our process, we have to implement the deep learning algorithm such as Artificial Neural Network (ANN).</a:t>
            </a:r>
          </a:p>
          <a:p>
            <a:pPr lvl="0"/>
            <a:r>
              <a:rPr lang="en-US" b="1" dirty="0" smtClean="0">
                <a:latin typeface="Times New Roman" pitchFamily="18" charset="0"/>
                <a:cs typeface="Times New Roman" pitchFamily="18" charset="0"/>
              </a:rPr>
              <a:t>Artificial Neural Networks</a:t>
            </a:r>
            <a:r>
              <a:rPr lang="en-US" dirty="0" smtClean="0">
                <a:latin typeface="Times New Roman" pitchFamily="18" charset="0"/>
                <a:cs typeface="Times New Roman" pitchFamily="18" charset="0"/>
              </a:rPr>
              <a:t> (ANN) are part of supervised machine learning where we will be having input as well as corresponding output present in our dataset. </a:t>
            </a:r>
          </a:p>
          <a:p>
            <a:pPr lvl="0"/>
            <a:endParaRPr lang="en-US"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EVALUATE ANSWER:</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In this step, we can evaluate the answers from the extracted text based on length of answers and length of words.</a:t>
            </a:r>
          </a:p>
          <a:p>
            <a:pPr lvl="0"/>
            <a:r>
              <a:rPr lang="en-US" dirty="0" smtClean="0">
                <a:latin typeface="Times New Roman" pitchFamily="18" charset="0"/>
                <a:cs typeface="Times New Roman" pitchFamily="18" charset="0"/>
              </a:rPr>
              <a:t>We can put the marks from o to 10 based on length of answers and length of words.</a:t>
            </a:r>
          </a:p>
          <a:p>
            <a:pPr lvl="0"/>
            <a:endParaRPr lang="en-US" dirty="0" smtClean="0">
              <a:latin typeface="Times New Roman" pitchFamily="18" charset="0"/>
              <a:cs typeface="Times New Roman" pitchFamily="18" charset="0"/>
            </a:endParaRPr>
          </a:p>
          <a:p>
            <a:pPr>
              <a:buNone/>
            </a:pPr>
            <a:r>
              <a:rPr lang="en-IN" b="1" dirty="0" smtClean="0">
                <a:latin typeface="Times New Roman" pitchFamily="18" charset="0"/>
                <a:cs typeface="Times New Roman" pitchFamily="18" charset="0"/>
              </a:rPr>
              <a:t>PERFORMANCE METRICS:</a:t>
            </a:r>
            <a:endParaRPr lang="en-US"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The Final Result will get generated based on the overall classification and prediction. The performance of this proposed approach is evaluated using some measures like,</a:t>
            </a:r>
            <a:endParaRPr lang="en-US" dirty="0" smtClean="0">
              <a:latin typeface="Times New Roman" pitchFamily="18" charset="0"/>
              <a:cs typeface="Times New Roman" pitchFamily="18" charset="0"/>
            </a:endParaRPr>
          </a:p>
          <a:p>
            <a:pPr lvl="0">
              <a:buNone/>
            </a:pPr>
            <a:endParaRPr lang="en-US" dirty="0" smtClean="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52704"/>
          </a:xfrm>
        </p:spPr>
        <p:txBody>
          <a:bodyPr/>
          <a:lstStyle/>
          <a:p>
            <a:r>
              <a:rPr lang="en-US" dirty="0" smtClean="0"/>
              <a:t>                    </a:t>
            </a:r>
            <a:r>
              <a:rPr lang="en-US" sz="3200" b="1" u="sng" dirty="0" smtClean="0">
                <a:latin typeface="Times New Roman" pitchFamily="18" charset="0"/>
                <a:cs typeface="Times New Roman" pitchFamily="18" charset="0"/>
              </a:rPr>
              <a:t>Conclusion</a:t>
            </a:r>
            <a:endParaRPr lang="en-US" sz="3200" b="1" u="sng" dirty="0">
              <a:latin typeface="Times New Roman" pitchFamily="18" charset="0"/>
              <a:cs typeface="Times New Roman" pitchFamily="18" charset="0"/>
            </a:endParaRPr>
          </a:p>
        </p:txBody>
      </p:sp>
      <p:sp>
        <p:nvSpPr>
          <p:cNvPr id="5" name="Content Placeholder 4"/>
          <p:cNvSpPr>
            <a:spLocks noGrp="1"/>
          </p:cNvSpPr>
          <p:nvPr>
            <p:ph idx="1"/>
          </p:nvPr>
        </p:nvSpPr>
        <p:spPr/>
        <p:txBody>
          <a:bodyPr>
            <a:normAutofit/>
          </a:bodyPr>
          <a:lstStyle/>
          <a:p>
            <a:pPr algn="just">
              <a:buFont typeface="Wingdings" pitchFamily="2" charset="2"/>
              <a:buChar char="v"/>
            </a:pPr>
            <a:r>
              <a:rPr lang="en-IN" sz="2400" dirty="0" smtClean="0">
                <a:latin typeface="Times New Roman" pitchFamily="18" charset="0"/>
                <a:cs typeface="Times New Roman" pitchFamily="18" charset="0"/>
              </a:rPr>
              <a:t>Evaluation of paper virtually is crucial nowadays because it takes less time and evaluation is very perfect which benefit the student as well as moderator.</a:t>
            </a:r>
          </a:p>
          <a:p>
            <a:pPr marL="0" indent="0" algn="just">
              <a:buNone/>
            </a:pPr>
            <a:endParaRPr lang="en-IN" sz="2400" dirty="0" smtClean="0">
              <a:latin typeface="Times New Roman" pitchFamily="18" charset="0"/>
              <a:cs typeface="Times New Roman" pitchFamily="18" charset="0"/>
            </a:endParaRPr>
          </a:p>
          <a:p>
            <a:pPr algn="just">
              <a:buFont typeface="Wingdings" pitchFamily="2" charset="2"/>
              <a:buChar char="v"/>
            </a:pPr>
            <a:r>
              <a:rPr lang="en-IN" sz="2400" dirty="0" smtClean="0">
                <a:latin typeface="Times New Roman" pitchFamily="18" charset="0"/>
                <a:cs typeface="Times New Roman" pitchFamily="18" charset="0"/>
              </a:rPr>
              <a:t>Apply the machine learning algorithm to the trained data set from that output will be predicted.</a:t>
            </a:r>
          </a:p>
          <a:p>
            <a:pPr marL="0" indent="0" algn="just">
              <a:buNone/>
            </a:pPr>
            <a:endParaRPr lang="en-IN" sz="2400" dirty="0" smtClean="0">
              <a:latin typeface="Times New Roman" pitchFamily="18" charset="0"/>
              <a:cs typeface="Times New Roman" pitchFamily="18" charset="0"/>
            </a:endParaRPr>
          </a:p>
          <a:p>
            <a:pPr algn="just">
              <a:buFont typeface="Wingdings" pitchFamily="2" charset="2"/>
              <a:buChar char="v"/>
            </a:pPr>
            <a:r>
              <a:rPr lang="en-IN" sz="2400" dirty="0" smtClean="0">
                <a:latin typeface="Times New Roman" pitchFamily="18" charset="0"/>
                <a:cs typeface="Times New Roman" pitchFamily="18" charset="0"/>
              </a:rPr>
              <a:t>Based on keywords and length of the answer the evaluating the descriptive answer sheet  will be done and finally the total marks of the student will be displayed. </a:t>
            </a:r>
            <a:endParaRPr lang="en-US" sz="2400" dirty="0">
              <a:latin typeface="Times New Roman" pitchFamily="18" charset="0"/>
              <a:cs typeface="Times New Roman" pitchFamily="18" charset="0"/>
            </a:endParaRPr>
          </a:p>
          <a:p>
            <a:pPr algn="just">
              <a:buFont typeface="Wingdings" pitchFamily="2" charset="2"/>
              <a:buChar char="v"/>
            </a:pPr>
            <a:endParaRPr lang="en-US" sz="2400" dirty="0">
              <a:latin typeface="Times New Roman" pitchFamily="18" charset="0"/>
              <a:cs typeface="Times New Roman" pitchFamily="18" charset="0"/>
            </a:endParaRPr>
          </a:p>
          <a:p>
            <a:pPr marL="0" indent="0" algn="r">
              <a:buNone/>
            </a:pPr>
            <a:endParaRPr lang="en-US" dirty="0" smtClean="0">
              <a:latin typeface="Times New Roman" pitchFamily="18" charset="0"/>
              <a:cs typeface="Times New Roman" pitchFamily="18" charset="0"/>
            </a:endParaRPr>
          </a:p>
          <a:p>
            <a:pPr marL="0" indent="0" algn="r">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40078671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a:p>
          <a:p>
            <a:endParaRPr lang="en-US" dirty="0" smtClean="0"/>
          </a:p>
          <a:p>
            <a:pPr marL="0" indent="0">
              <a:buNone/>
            </a:pPr>
            <a:r>
              <a:rPr lang="en-US" dirty="0" smtClean="0"/>
              <a:t>                       </a:t>
            </a:r>
            <a:r>
              <a:rPr lang="en-US" sz="7200" i="1" dirty="0" smtClean="0">
                <a:latin typeface="Cambria Math" pitchFamily="18" charset="0"/>
                <a:ea typeface="Cambria Math" pitchFamily="18" charset="0"/>
              </a:rPr>
              <a:t>Thank You!</a:t>
            </a:r>
            <a:endParaRPr lang="en-US" sz="7200" i="1" dirty="0">
              <a:latin typeface="Cambria Math" pitchFamily="18" charset="0"/>
              <a:ea typeface="Cambria Math" pitchFamily="18" charset="0"/>
            </a:endParaRPr>
          </a:p>
        </p:txBody>
      </p:sp>
    </p:spTree>
    <p:extLst>
      <p:ext uri="{BB962C8B-B14F-4D97-AF65-F5344CB8AC3E}">
        <p14:creationId xmlns:p14="http://schemas.microsoft.com/office/powerpoint/2010/main" xmlns="" val="20936758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1820</TotalTime>
  <Words>550</Words>
  <Application>Microsoft Office PowerPoint</Application>
  <PresentationFormat>On-screen Show (4:3)</PresentationFormat>
  <Paragraphs>77</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Flow</vt:lpstr>
      <vt:lpstr>ANSWER EVALUATION USING MACHINE LEARNING            </vt:lpstr>
      <vt:lpstr>List of the Contents</vt:lpstr>
      <vt:lpstr>                    Abstract</vt:lpstr>
      <vt:lpstr>Introduction</vt:lpstr>
      <vt:lpstr>METHODOLOGY</vt:lpstr>
      <vt:lpstr>Slide 6</vt:lpstr>
      <vt:lpstr>Slide 7</vt:lpstr>
      <vt:lpstr>Slide 8</vt:lpstr>
      <vt:lpstr>                    Conclusion</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Presented by  Name of the student  (Roll number) Under the esteemed guidance of Guide name Designation , CSE Department</dc:title>
  <dc:creator>hp</dc:creator>
  <cp:lastModifiedBy>haree</cp:lastModifiedBy>
  <cp:revision>290</cp:revision>
  <dcterms:created xsi:type="dcterms:W3CDTF">2020-01-27T07:39:54Z</dcterms:created>
  <dcterms:modified xsi:type="dcterms:W3CDTF">2026-02-06T02:00:21Z</dcterms:modified>
</cp:coreProperties>
</file>